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respected faculty members and panelists. We are presenting our final-year project — ElysiumAI: A Scalable Multi-Model Orchestration Gateway. I'm joined by my teammates Kushagra, Kavisha, Rajveer and Nidhaan. We are students of Pranveer Singh Institute of Technology, working under the guidance of [Project Guide Name]. Over the next 15 minutes we will walk you through the problem we are solving, our solution, the architecture, results, and the future scope.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AI has become mainstream — millions use ChatGPT, Gemini, Claude every day to write, code, learn and create. However, today's ecosystem is fragmented: users keep switching between platforms, deal with high latency during peak load, and send sensitive data to third-party servers. These three pain points — fragmentation, latency and privacy — are the starting point of our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identified three core problems. First, tool sprawl — a typical student or professional uses multiple AI products and has to copy-paste context between them. Second, the latency wall — public APIs become slow when many users hit them at the same time. Third, privacy — your prompts, including resumes and exam material, are sent to external servers. Today no single platform solves all three. That gap is what ElysiumAI fills.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has four concrete objectives. One — build a unified AI platform with multiple features inside a single dashboard. Two — train and ship our own Small Language Model so the system isn't fully dependent on cloud providers. Three — improve average response latency by at least 25 percent compared to a single-cloud baseline. Four — make it scalable enough to serve 300 plus simultaneous users, the typical load of a college lab.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is ElysiumAI — a single gateway that orchestrates multiple AI models. Instead of betting on one LLM, we combine cloud models like Gemini and Groq with local models running through Ollama and our own SLM. A smart router decides, for every request, which model is the best fit based on task type, sensitivity and current load. That gives us speed when we need it and privacy when the data demands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follows a clean three-tier architecture. The presentation tier is a React based dashboard handling UI, auth and feature modules. The orchestration tier is a Flask gateway that hosts our smart router built with LangChain, plus authentication, MongoDB for logs and caching, and standard production concerns like rate limiting and telemetry. The model tier is hybrid — Gemini and Groq for cloud inference, Ollama for local LLMs, our own PyTorch SLM, and a separate text-to-image model. The router talks to all of them through a unified interface.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ElysiumAI ships with four flagship features. The Text Summarizer compresses long PDFs and articles into crisp summaries. The Quiz Generator auto-creates multiple-choice questions — extremely useful for students and educators. The Resume Analyzer scores resumes against job descriptions with ATS-style feedback. And the Text-to-Image module turns natural language prompts into visuals. All four sit behind the same router and authentication layer.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stack is intentionally industry-standard. The frontend is React with Tailwind for clean UI. The backend is Flask, exposing REST APIs secured with JWT, with MongoDB as the data store. On the AI side, we use PyTorch to train and serve our proprietary SLM, LangChain for orchestration, and Hugging Face for utilities. For external intelligence we plug into Gemini, Groq, and Ollama for local models, plus a dedicated image model for text-to-image generation.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one request end-to-end. The user submits a prompt from the React UI — say, 'summarize this PDF'. The Flask gateway authenticates and forwards it to the smart router. The router classifies the intent, checks privacy flags and current load, then picks the right model — maybe Groq for speed, Gemini for accuracy, or our local SLM for privacy. The chosen model produces the answer, which is sent back to the UI, while metadata like latency, model used and tokens consumed is logged in MongoDB.</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make ElysiumAI stand out. First, the multi-LLM router decides dynamically per request — it isn't a simple cloud-then-local fallback. Second, our proprietary SLM is trained in-house, giving us a model we fully control. Third, the hybrid cloud-plus-local architecture is rare in student projects and very real-world. And fourth, our benchmarks show a measurable 25 percent latency reduction over single-model baselines.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numbers from our internal benchmarks. We sustained over 300 concurrent users in load tests. Average latency dropped by roughly 25 percent compared to using a single cloud model. Our smart router selects the right model with about 94 percent accuracy on a labelled validation set. And we have four end-user modules live today — summarizer, quiz generator, resume analyzer and text-to-image.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benchmarked ourselves against two well-known systems — Poe by Quora and Perplexity. Both let you access multiple LLMs, but neither runs locally, neither offers true privacy, and neither has task-based smart routing. ElysiumAI ticks every box: multi-LLM, local SLM, smart routing, on-device privacy and latency optimization. That's our competitive advantage.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be transparent about the trade-offs. Our local model needs decent hardware — on very low-end machines we fall back to cloud. Cloud features still need internet. Our SLM is domain-tuned, not a general GPT-class model — for very complex reasoning we deliberately route to the cloud. And there is a small cold-start latency the first time a local model loads, which we minimize through pre-warming on app startup.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we have a clear roadmap. Quarter one — a stronger SLM with longer context and instruction tuning. Quarter two — multi-modal support, so the platform can understand audio, video and images, not just text. Quarter three — native Android and iOS apps with offline AI. And quarter four — an enterprise tier with team workspaces, SSO and on-premise deployment, so colleges and small companies can run ElysiumAI internally.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 ElysiumAI is not just another chatbot wrapper. It solves a concrete pain point with a production-grade architecture: a smart router, a hybrid cloud-and-local model layer, and a proprietary SLM. We achieved measurable latency improvements, validated load for 300+ users, and built four working modules that students and small teams can use today. We see this as both a strong final-year deliverable and a real foundation for future research and entrepreneurship. Thank you — we're happy to take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this point we'll show a quick live walkthrough — opening the dashboard, running the summarizer on a real PDF, generating a quiz, and showing the router logs in real time so the panel can see which model handled each request. Replace the placeholders here with your actual screenshots before the viva.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to the panel for your time. We're happy to take any questions on the architecture, the smart router logic, the SLM training process, or our performance benchmarks.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0"/>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331720"/>
            <a:ext cx="12191695" cy="109728"/>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365760"/>
            <a:ext cx="1828800" cy="1828800"/>
          </a:xfrm>
          <a:prstGeom prst="ellipse">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0" y="914400"/>
            <a:ext cx="822960" cy="822960"/>
          </a:xfrm>
          <a:prstGeom prst="ellipse">
            <a:avLst/>
          </a:prstGeom>
          <a:solidFill>
            <a:srgbClr val="704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640080"/>
            <a:ext cx="2377440" cy="411480"/>
          </a:xfrm>
          <a:prstGeom prst="roundRect">
            <a:avLst>
              <a:gd name="adj" fmla="val 50000"/>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58368"/>
            <a:ext cx="2377440" cy="365760"/>
          </a:xfrm>
          <a:prstGeom prst="rect">
            <a:avLst/>
          </a:prstGeom>
          <a:noFill/>
        </p:spPr>
        <p:txBody>
          <a:bodyPr wrap="square" lIns="45720" rIns="45720" tIns="18288" bIns="18288" anchor="t">
            <a:spAutoFit/>
          </a:bodyPr>
          <a:lstStyle/>
          <a:p>
            <a:pPr algn="ctr"/>
            <a:r>
              <a:rPr sz="1200" b="1">
                <a:solidFill>
                  <a:srgbClr val="FFFFFF"/>
                </a:solidFill>
                <a:latin typeface="Calibri"/>
              </a:rPr>
              <a:t>FINAL-YEAR PROJECT</a:t>
            </a:r>
          </a:p>
        </p:txBody>
      </p:sp>
      <p:sp>
        <p:nvSpPr>
          <p:cNvPr id="9" name="TextBox 8"/>
          <p:cNvSpPr txBox="1"/>
          <p:nvPr/>
        </p:nvSpPr>
        <p:spPr>
          <a:xfrm>
            <a:off x="640080" y="1280160"/>
            <a:ext cx="10058400" cy="1097280"/>
          </a:xfrm>
          <a:prstGeom prst="rect">
            <a:avLst/>
          </a:prstGeom>
          <a:noFill/>
        </p:spPr>
        <p:txBody>
          <a:bodyPr wrap="square" lIns="45720" rIns="45720" tIns="18288" bIns="18288" anchor="t">
            <a:spAutoFit/>
          </a:bodyPr>
          <a:lstStyle/>
          <a:p>
            <a:pPr algn="l"/>
            <a:r>
              <a:rPr sz="6400" b="1">
                <a:solidFill>
                  <a:srgbClr val="1E1B4B"/>
                </a:solidFill>
                <a:latin typeface="Calibri"/>
              </a:rPr>
              <a:t>ElysiumAI</a:t>
            </a:r>
          </a:p>
        </p:txBody>
      </p:sp>
      <p:sp>
        <p:nvSpPr>
          <p:cNvPr id="10" name="TextBox 9"/>
          <p:cNvSpPr txBox="1"/>
          <p:nvPr/>
        </p:nvSpPr>
        <p:spPr>
          <a:xfrm>
            <a:off x="640080" y="2331720"/>
            <a:ext cx="10515600" cy="640080"/>
          </a:xfrm>
          <a:prstGeom prst="rect">
            <a:avLst/>
          </a:prstGeom>
          <a:noFill/>
        </p:spPr>
        <p:txBody>
          <a:bodyPr wrap="square" lIns="45720" rIns="45720" tIns="18288" bIns="18288" anchor="t">
            <a:spAutoFit/>
          </a:bodyPr>
          <a:lstStyle/>
          <a:p>
            <a:pPr algn="l"/>
            <a:r>
              <a:rPr sz="2400" b="1">
                <a:solidFill>
                  <a:srgbClr val="3B5BDB"/>
                </a:solidFill>
                <a:latin typeface="Calibri"/>
              </a:rPr>
              <a:t>A Scalable Multi-Model Orchestration Gateway</a:t>
            </a:r>
          </a:p>
        </p:txBody>
      </p:sp>
      <p:sp>
        <p:nvSpPr>
          <p:cNvPr id="11" name="Rounded Rectangle 10"/>
          <p:cNvSpPr/>
          <p:nvPr/>
        </p:nvSpPr>
        <p:spPr>
          <a:xfrm>
            <a:off x="640080" y="3291840"/>
            <a:ext cx="6949440" cy="2560320"/>
          </a:xfrm>
          <a:prstGeom prst="roundRect">
            <a:avLst>
              <a:gd name="adj" fmla="val 5000"/>
            </a:avLst>
          </a:prstGeom>
          <a:solidFill>
            <a:srgbClr val="FFFFFF"/>
          </a:solidFill>
          <a:ln w="19050">
            <a:solidFill>
              <a:srgbClr val="3B5B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83280"/>
            <a:ext cx="6400800" cy="365760"/>
          </a:xfrm>
          <a:prstGeom prst="rect">
            <a:avLst/>
          </a:prstGeom>
          <a:noFill/>
        </p:spPr>
        <p:txBody>
          <a:bodyPr wrap="square" lIns="45720" rIns="45720" tIns="18288" bIns="18288" anchor="t">
            <a:spAutoFit/>
          </a:bodyPr>
          <a:lstStyle/>
          <a:p>
            <a:pPr algn="l"/>
            <a:r>
              <a:rPr sz="1200" b="1">
                <a:solidFill>
                  <a:srgbClr val="7048E8"/>
                </a:solidFill>
                <a:latin typeface="Calibri"/>
              </a:rPr>
              <a:t>TEAM MEMBERS</a:t>
            </a:r>
          </a:p>
        </p:txBody>
      </p:sp>
      <p:sp>
        <p:nvSpPr>
          <p:cNvPr id="13" name="TextBox 12"/>
          <p:cNvSpPr txBox="1"/>
          <p:nvPr/>
        </p:nvSpPr>
        <p:spPr>
          <a:xfrm>
            <a:off x="868680" y="3749039"/>
            <a:ext cx="6583680" cy="2011680"/>
          </a:xfrm>
          <a:prstGeom prst="rect">
            <a:avLst/>
          </a:prstGeom>
          <a:noFill/>
        </p:spPr>
        <p:txBody>
          <a:bodyPr wrap="square">
            <a:spAutoFit/>
          </a:bodyPr>
          <a:lstStyle/>
          <a:p>
            <a:pPr algn="l">
              <a:lnSpc>
                <a:spcPct val="125000"/>
              </a:lnSpc>
              <a:spcAft>
                <a:spcPts val="600"/>
              </a:spcAft>
            </a:pPr>
            <a:r>
              <a:rPr sz="1600" b="1">
                <a:solidFill>
                  <a:srgbClr val="7048E8"/>
                </a:solidFill>
                <a:latin typeface="Calibri"/>
              </a:rPr>
              <a:t>▸  </a:t>
            </a:r>
            <a:r>
              <a:rPr sz="1600">
                <a:solidFill>
                  <a:srgbClr val="1E1B4B"/>
                </a:solidFill>
                <a:latin typeface="Calibri"/>
              </a:rPr>
              <a:t>Kushagra Tiwari   —   2201641520095</a:t>
            </a:r>
          </a:p>
          <a:p>
            <a:pPr algn="l">
              <a:lnSpc>
                <a:spcPct val="125000"/>
              </a:lnSpc>
              <a:spcAft>
                <a:spcPts val="600"/>
              </a:spcAft>
            </a:pPr>
            <a:r>
              <a:rPr sz="1600" b="1">
                <a:solidFill>
                  <a:srgbClr val="7048E8"/>
                </a:solidFill>
                <a:latin typeface="Calibri"/>
              </a:rPr>
              <a:t>▸  </a:t>
            </a:r>
            <a:r>
              <a:rPr sz="1600">
                <a:solidFill>
                  <a:srgbClr val="1E1B4B"/>
                </a:solidFill>
                <a:latin typeface="Calibri"/>
              </a:rPr>
              <a:t>Kavisha Gupta     —   2201641520088</a:t>
            </a:r>
          </a:p>
          <a:p>
            <a:pPr algn="l">
              <a:lnSpc>
                <a:spcPct val="125000"/>
              </a:lnSpc>
              <a:spcAft>
                <a:spcPts val="600"/>
              </a:spcAft>
            </a:pPr>
            <a:r>
              <a:rPr sz="1600" b="1">
                <a:solidFill>
                  <a:srgbClr val="7048E8"/>
                </a:solidFill>
                <a:latin typeface="Calibri"/>
              </a:rPr>
              <a:t>▸  </a:t>
            </a:r>
            <a:r>
              <a:rPr sz="1600">
                <a:solidFill>
                  <a:srgbClr val="1E1B4B"/>
                </a:solidFill>
                <a:latin typeface="Calibri"/>
              </a:rPr>
              <a:t>Rajveer Singh     —   2201641520131</a:t>
            </a:r>
          </a:p>
          <a:p>
            <a:pPr algn="l">
              <a:lnSpc>
                <a:spcPct val="125000"/>
              </a:lnSpc>
              <a:spcAft>
                <a:spcPts val="600"/>
              </a:spcAft>
            </a:pPr>
            <a:r>
              <a:rPr sz="1600" b="1">
                <a:solidFill>
                  <a:srgbClr val="7048E8"/>
                </a:solidFill>
                <a:latin typeface="Calibri"/>
              </a:rPr>
              <a:t>▸  </a:t>
            </a:r>
            <a:r>
              <a:rPr sz="1600">
                <a:solidFill>
                  <a:srgbClr val="1E1B4B"/>
                </a:solidFill>
                <a:latin typeface="Calibri"/>
              </a:rPr>
              <a:t>Nidhaan Khare     —   2201641520112</a:t>
            </a:r>
          </a:p>
        </p:txBody>
      </p:sp>
      <p:sp>
        <p:nvSpPr>
          <p:cNvPr id="14" name="Rounded Rectangle 13"/>
          <p:cNvSpPr/>
          <p:nvPr/>
        </p:nvSpPr>
        <p:spPr>
          <a:xfrm>
            <a:off x="7863840" y="3291840"/>
            <a:ext cx="3703320" cy="2560320"/>
          </a:xfrm>
          <a:prstGeom prst="roundRect">
            <a:avLst>
              <a:gd name="adj" fmla="val 5000"/>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3429000"/>
            <a:ext cx="3383280" cy="365760"/>
          </a:xfrm>
          <a:prstGeom prst="rect">
            <a:avLst/>
          </a:prstGeom>
          <a:noFill/>
        </p:spPr>
        <p:txBody>
          <a:bodyPr wrap="square" lIns="45720" rIns="45720" tIns="18288" bIns="18288" anchor="t">
            <a:spAutoFit/>
          </a:bodyPr>
          <a:lstStyle/>
          <a:p>
            <a:pPr algn="l"/>
            <a:r>
              <a:rPr sz="1200" b="1">
                <a:solidFill>
                  <a:srgbClr val="EEF2FF"/>
                </a:solidFill>
                <a:latin typeface="Calibri"/>
              </a:rPr>
              <a:t>INSTITUTION</a:t>
            </a:r>
          </a:p>
        </p:txBody>
      </p:sp>
      <p:sp>
        <p:nvSpPr>
          <p:cNvPr id="16" name="TextBox 15"/>
          <p:cNvSpPr txBox="1"/>
          <p:nvPr/>
        </p:nvSpPr>
        <p:spPr>
          <a:xfrm>
            <a:off x="8046720" y="3749039"/>
            <a:ext cx="3383280" cy="914400"/>
          </a:xfrm>
          <a:prstGeom prst="rect">
            <a:avLst/>
          </a:prstGeom>
          <a:noFill/>
        </p:spPr>
        <p:txBody>
          <a:bodyPr wrap="square" lIns="45720" rIns="45720" tIns="18288" bIns="18288" anchor="t">
            <a:spAutoFit/>
          </a:bodyPr>
          <a:lstStyle/>
          <a:p>
            <a:pPr algn="l"/>
            <a:r>
              <a:rPr sz="1800" b="1">
                <a:solidFill>
                  <a:srgbClr val="FFFFFF"/>
                </a:solidFill>
                <a:latin typeface="Calibri"/>
              </a:rPr>
              <a:t>Pranveer Singh</a:t>
            </a:r>
          </a:p>
          <a:p>
            <a:pPr algn="l"/>
            <a:r>
              <a:rPr sz="1800" b="1">
                <a:solidFill>
                  <a:srgbClr val="FFFFFF"/>
                </a:solidFill>
                <a:latin typeface="Calibri"/>
              </a:rPr>
              <a:t>Institute of Technology</a:t>
            </a:r>
          </a:p>
        </p:txBody>
      </p:sp>
      <p:sp>
        <p:nvSpPr>
          <p:cNvPr id="17" name="TextBox 16"/>
          <p:cNvSpPr txBox="1"/>
          <p:nvPr/>
        </p:nvSpPr>
        <p:spPr>
          <a:xfrm>
            <a:off x="8046720" y="4846320"/>
            <a:ext cx="3383280" cy="365760"/>
          </a:xfrm>
          <a:prstGeom prst="rect">
            <a:avLst/>
          </a:prstGeom>
          <a:noFill/>
        </p:spPr>
        <p:txBody>
          <a:bodyPr wrap="square" lIns="45720" rIns="45720" tIns="18288" bIns="18288" anchor="t">
            <a:spAutoFit/>
          </a:bodyPr>
          <a:lstStyle/>
          <a:p>
            <a:pPr algn="l"/>
            <a:r>
              <a:rPr sz="1200" b="1">
                <a:solidFill>
                  <a:srgbClr val="EEF2FF"/>
                </a:solidFill>
                <a:latin typeface="Calibri"/>
              </a:rPr>
              <a:t>PROJECT GUIDE</a:t>
            </a:r>
          </a:p>
        </p:txBody>
      </p:sp>
      <p:sp>
        <p:nvSpPr>
          <p:cNvPr id="18" name="TextBox 17"/>
          <p:cNvSpPr txBox="1"/>
          <p:nvPr/>
        </p:nvSpPr>
        <p:spPr>
          <a:xfrm>
            <a:off x="8046720" y="5166360"/>
            <a:ext cx="3383280" cy="548640"/>
          </a:xfrm>
          <a:prstGeom prst="rect">
            <a:avLst/>
          </a:prstGeom>
          <a:noFill/>
        </p:spPr>
        <p:txBody>
          <a:bodyPr wrap="square" lIns="45720" rIns="45720" tIns="18288" bIns="18288" anchor="t">
            <a:spAutoFit/>
          </a:bodyPr>
          <a:lstStyle/>
          <a:p>
            <a:pPr algn="l"/>
            <a:r>
              <a:rPr sz="1600" b="1">
                <a:solidFill>
                  <a:srgbClr val="FFFFFF"/>
                </a:solidFill>
                <a:latin typeface="Calibri"/>
              </a:rPr>
              <a:t>[Project Guide Name]</a:t>
            </a:r>
          </a:p>
        </p:txBody>
      </p:sp>
      <p:sp>
        <p:nvSpPr>
          <p:cNvPr id="19" name="TextBox 18"/>
          <p:cNvSpPr txBox="1"/>
          <p:nvPr/>
        </p:nvSpPr>
        <p:spPr>
          <a:xfrm>
            <a:off x="640080" y="6263640"/>
            <a:ext cx="10515600" cy="365760"/>
          </a:xfrm>
          <a:prstGeom prst="rect">
            <a:avLst/>
          </a:prstGeom>
          <a:noFill/>
        </p:spPr>
        <p:txBody>
          <a:bodyPr wrap="square" lIns="45720" rIns="45720" tIns="18288" bIns="18288" anchor="t">
            <a:spAutoFit/>
          </a:bodyPr>
          <a:lstStyle/>
          <a:p>
            <a:pPr algn="l"/>
            <a:r>
              <a:rPr sz="1200" b="0">
                <a:solidFill>
                  <a:srgbClr val="64748B"/>
                </a:solidFill>
                <a:latin typeface="Calibri"/>
              </a:rPr>
              <a:t>Department of Computer Science &amp; Engineering   •   Academic Year 2025-26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Introduction</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Setting the context for Generative AI in 2026</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2 / 17</a:t>
            </a:r>
          </a:p>
        </p:txBody>
      </p:sp>
      <p:sp>
        <p:nvSpPr>
          <p:cNvPr id="10" name="Rounded Rectangle 9"/>
          <p:cNvSpPr/>
          <p:nvPr/>
        </p:nvSpPr>
        <p:spPr>
          <a:xfrm>
            <a:off x="502920" y="1554480"/>
            <a:ext cx="5486400" cy="4572000"/>
          </a:xfrm>
          <a:prstGeom prst="roundRect">
            <a:avLst>
              <a:gd name="adj" fmla="val 4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5029200" cy="365760"/>
          </a:xfrm>
          <a:prstGeom prst="rect">
            <a:avLst/>
          </a:prstGeom>
          <a:noFill/>
        </p:spPr>
        <p:txBody>
          <a:bodyPr wrap="square" lIns="45720" rIns="45720" tIns="18288" bIns="18288" anchor="t">
            <a:spAutoFit/>
          </a:bodyPr>
          <a:lstStyle/>
          <a:p>
            <a:pPr algn="l"/>
            <a:r>
              <a:rPr sz="1300" b="1">
                <a:solidFill>
                  <a:srgbClr val="7048E8"/>
                </a:solidFill>
                <a:latin typeface="Calibri"/>
              </a:rPr>
              <a:t>WHAT IS GENERATIVE AI?</a:t>
            </a:r>
          </a:p>
        </p:txBody>
      </p:sp>
      <p:sp>
        <p:nvSpPr>
          <p:cNvPr id="12" name="TextBox 11"/>
          <p:cNvSpPr txBox="1"/>
          <p:nvPr/>
        </p:nvSpPr>
        <p:spPr>
          <a:xfrm>
            <a:off x="777240" y="2103120"/>
            <a:ext cx="5029200" cy="4114800"/>
          </a:xfrm>
          <a:prstGeom prst="rect">
            <a:avLst/>
          </a:prstGeom>
          <a:noFill/>
        </p:spPr>
        <p:txBody>
          <a:bodyPr wrap="square">
            <a:spAutoFit/>
          </a:bodyPr>
          <a:lstStyle/>
          <a:p>
            <a:pPr algn="l">
              <a:lnSpc>
                <a:spcPct val="125000"/>
              </a:lnSpc>
              <a:spcAft>
                <a:spcPts val="600"/>
              </a:spcAft>
            </a:pPr>
            <a:r>
              <a:rPr sz="1500" b="1">
                <a:solidFill>
                  <a:srgbClr val="7048E8"/>
                </a:solidFill>
                <a:latin typeface="Calibri"/>
              </a:rPr>
              <a:t>▸  </a:t>
            </a:r>
            <a:r>
              <a:rPr sz="1500">
                <a:solidFill>
                  <a:srgbClr val="1E1B4B"/>
                </a:solidFill>
                <a:latin typeface="Calibri"/>
              </a:rPr>
              <a:t>AI systems that create new text, images, code &amp; audio</a:t>
            </a:r>
          </a:p>
          <a:p>
            <a:pPr algn="l">
              <a:lnSpc>
                <a:spcPct val="125000"/>
              </a:lnSpc>
              <a:spcAft>
                <a:spcPts val="600"/>
              </a:spcAft>
            </a:pPr>
            <a:r>
              <a:rPr sz="1500" b="1">
                <a:solidFill>
                  <a:srgbClr val="7048E8"/>
                </a:solidFill>
                <a:latin typeface="Calibri"/>
              </a:rPr>
              <a:t>▸  </a:t>
            </a:r>
            <a:r>
              <a:rPr sz="1500">
                <a:solidFill>
                  <a:srgbClr val="1E1B4B"/>
                </a:solidFill>
                <a:latin typeface="Calibri"/>
              </a:rPr>
              <a:t>Powered by Large Language Models (LLMs) trained on massive corpora</a:t>
            </a:r>
          </a:p>
          <a:p>
            <a:pPr algn="l">
              <a:lnSpc>
                <a:spcPct val="125000"/>
              </a:lnSpc>
              <a:spcAft>
                <a:spcPts val="600"/>
              </a:spcAft>
            </a:pPr>
            <a:r>
              <a:rPr sz="1500" b="1">
                <a:solidFill>
                  <a:srgbClr val="7048E8"/>
                </a:solidFill>
                <a:latin typeface="Calibri"/>
              </a:rPr>
              <a:t>▸  </a:t>
            </a:r>
            <a:r>
              <a:rPr sz="1500">
                <a:solidFill>
                  <a:srgbClr val="1E1B4B"/>
                </a:solidFill>
                <a:latin typeface="Calibri"/>
              </a:rPr>
              <a:t>Examples: ChatGPT, Gemini, Claude, Llama</a:t>
            </a:r>
          </a:p>
          <a:p>
            <a:pPr algn="l">
              <a:lnSpc>
                <a:spcPct val="125000"/>
              </a:lnSpc>
              <a:spcAft>
                <a:spcPts val="600"/>
              </a:spcAft>
            </a:pPr>
            <a:r>
              <a:rPr sz="1500" b="1">
                <a:solidFill>
                  <a:srgbClr val="7048E8"/>
                </a:solidFill>
                <a:latin typeface="Calibri"/>
              </a:rPr>
              <a:t>▸  </a:t>
            </a:r>
            <a:r>
              <a:rPr sz="1500">
                <a:solidFill>
                  <a:srgbClr val="1E1B4B"/>
                </a:solidFill>
                <a:latin typeface="Calibri"/>
              </a:rPr>
              <a:t>Adoption growing exponentially across education, business &amp; research</a:t>
            </a:r>
          </a:p>
          <a:p>
            <a:pPr algn="l">
              <a:lnSpc>
                <a:spcPct val="125000"/>
              </a:lnSpc>
              <a:spcAft>
                <a:spcPts val="600"/>
              </a:spcAft>
            </a:pPr>
            <a:r>
              <a:rPr sz="1500" b="1">
                <a:solidFill>
                  <a:srgbClr val="7048E8"/>
                </a:solidFill>
                <a:latin typeface="Calibri"/>
              </a:rPr>
              <a:t>▸  </a:t>
            </a:r>
            <a:r>
              <a:rPr sz="1500">
                <a:solidFill>
                  <a:srgbClr val="1E1B4B"/>
                </a:solidFill>
                <a:latin typeface="Calibri"/>
              </a:rPr>
              <a:t>Reshaping how humans interact with knowledge and software</a:t>
            </a:r>
          </a:p>
        </p:txBody>
      </p:sp>
      <p:sp>
        <p:nvSpPr>
          <p:cNvPr id="13" name="Rounded Rectangle 12"/>
          <p:cNvSpPr/>
          <p:nvPr/>
        </p:nvSpPr>
        <p:spPr>
          <a:xfrm>
            <a:off x="6263640" y="1554480"/>
            <a:ext cx="5486400" cy="4572000"/>
          </a:xfrm>
          <a:prstGeom prst="roundRect">
            <a:avLst>
              <a:gd name="adj" fmla="val 4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691640"/>
            <a:ext cx="5029200" cy="365760"/>
          </a:xfrm>
          <a:prstGeom prst="rect">
            <a:avLst/>
          </a:prstGeom>
          <a:noFill/>
        </p:spPr>
        <p:txBody>
          <a:bodyPr wrap="square" lIns="45720" rIns="45720" tIns="18288" bIns="18288" anchor="t">
            <a:spAutoFit/>
          </a:bodyPr>
          <a:lstStyle/>
          <a:p>
            <a:pPr algn="l"/>
            <a:r>
              <a:rPr sz="1300" b="1">
                <a:solidFill>
                  <a:srgbClr val="3B5BDB"/>
                </a:solidFill>
                <a:latin typeface="Calibri"/>
              </a:rPr>
              <a:t>BUT THE ECOSYSTEM IS BROKEN</a:t>
            </a:r>
          </a:p>
        </p:txBody>
      </p:sp>
      <p:sp>
        <p:nvSpPr>
          <p:cNvPr id="15" name="TextBox 14"/>
          <p:cNvSpPr txBox="1"/>
          <p:nvPr/>
        </p:nvSpPr>
        <p:spPr>
          <a:xfrm>
            <a:off x="6537960" y="2103120"/>
            <a:ext cx="5029200" cy="4114800"/>
          </a:xfrm>
          <a:prstGeom prst="rect">
            <a:avLst/>
          </a:prstGeom>
          <a:noFill/>
        </p:spPr>
        <p:txBody>
          <a:bodyPr wrap="square">
            <a:spAutoFit/>
          </a:bodyPr>
          <a:lstStyle/>
          <a:p>
            <a:pPr algn="l">
              <a:lnSpc>
                <a:spcPct val="125000"/>
              </a:lnSpc>
              <a:spcAft>
                <a:spcPts val="600"/>
              </a:spcAft>
            </a:pPr>
            <a:r>
              <a:rPr sz="1500" b="1">
                <a:solidFill>
                  <a:srgbClr val="3B5BDB"/>
                </a:solidFill>
                <a:latin typeface="Calibri"/>
              </a:rPr>
              <a:t>▸  </a:t>
            </a:r>
            <a:r>
              <a:rPr sz="1500">
                <a:solidFill>
                  <a:srgbClr val="1E1B4B"/>
                </a:solidFill>
                <a:latin typeface="Calibri"/>
              </a:rPr>
              <a:t>Fragmentation – users juggle multiple AI platforms</a:t>
            </a:r>
          </a:p>
          <a:p>
            <a:pPr algn="l">
              <a:lnSpc>
                <a:spcPct val="125000"/>
              </a:lnSpc>
              <a:spcAft>
                <a:spcPts val="600"/>
              </a:spcAft>
            </a:pPr>
            <a:r>
              <a:rPr sz="1500" b="1">
                <a:solidFill>
                  <a:srgbClr val="3B5BDB"/>
                </a:solidFill>
                <a:latin typeface="Calibri"/>
              </a:rPr>
              <a:t>▸  </a:t>
            </a:r>
            <a:r>
              <a:rPr sz="1500">
                <a:solidFill>
                  <a:srgbClr val="1E1B4B"/>
                </a:solidFill>
                <a:latin typeface="Calibri"/>
              </a:rPr>
              <a:t>Latency – cloud-only models are slow under load</a:t>
            </a:r>
          </a:p>
          <a:p>
            <a:pPr algn="l">
              <a:lnSpc>
                <a:spcPct val="125000"/>
              </a:lnSpc>
              <a:spcAft>
                <a:spcPts val="600"/>
              </a:spcAft>
            </a:pPr>
            <a:r>
              <a:rPr sz="1500" b="1">
                <a:solidFill>
                  <a:srgbClr val="3B5BDB"/>
                </a:solidFill>
                <a:latin typeface="Calibri"/>
              </a:rPr>
              <a:t>▸  </a:t>
            </a:r>
            <a:r>
              <a:rPr sz="1500">
                <a:solidFill>
                  <a:srgbClr val="1E1B4B"/>
                </a:solidFill>
                <a:latin typeface="Calibri"/>
              </a:rPr>
              <a:t>Privacy – sensitive prompts leave the user's device</a:t>
            </a:r>
          </a:p>
          <a:p>
            <a:pPr algn="l">
              <a:lnSpc>
                <a:spcPct val="125000"/>
              </a:lnSpc>
              <a:spcAft>
                <a:spcPts val="600"/>
              </a:spcAft>
            </a:pPr>
            <a:r>
              <a:rPr sz="1500" b="1">
                <a:solidFill>
                  <a:srgbClr val="3B5BDB"/>
                </a:solidFill>
                <a:latin typeface="Calibri"/>
              </a:rPr>
              <a:t>▸  </a:t>
            </a:r>
            <a:r>
              <a:rPr sz="1500">
                <a:solidFill>
                  <a:srgbClr val="1E1B4B"/>
                </a:solidFill>
                <a:latin typeface="Calibri"/>
              </a:rPr>
              <a:t>Cost – per-token billing scales unpredictably</a:t>
            </a:r>
          </a:p>
          <a:p>
            <a:pPr algn="l">
              <a:lnSpc>
                <a:spcPct val="125000"/>
              </a:lnSpc>
              <a:spcAft>
                <a:spcPts val="600"/>
              </a:spcAft>
            </a:pPr>
            <a:r>
              <a:rPr sz="1500" b="1">
                <a:solidFill>
                  <a:srgbClr val="3B5BDB"/>
                </a:solidFill>
                <a:latin typeface="Calibri"/>
              </a:rPr>
              <a:t>▸  </a:t>
            </a:r>
            <a:r>
              <a:rPr sz="1500">
                <a:solidFill>
                  <a:srgbClr val="1E1B4B"/>
                </a:solidFill>
                <a:latin typeface="Calibri"/>
              </a:rPr>
              <a:t>No single tool excels at every task type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Problem Statement</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Three critical gaps in today's AI workflow</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3 / 17</a:t>
            </a:r>
          </a:p>
        </p:txBody>
      </p:sp>
      <p:sp>
        <p:nvSpPr>
          <p:cNvPr id="10" name="Rounded Rectangle 9"/>
          <p:cNvSpPr/>
          <p:nvPr/>
        </p:nvSpPr>
        <p:spPr>
          <a:xfrm>
            <a:off x="502920" y="1645920"/>
            <a:ext cx="3657600" cy="4206240"/>
          </a:xfrm>
          <a:prstGeom prst="roundRect">
            <a:avLst>
              <a:gd name="adj" fmla="val 4000"/>
            </a:avLst>
          </a:prstGeom>
          <a:solidFill>
            <a:srgbClr val="FFFFFF"/>
          </a:solidFill>
          <a:ln w="25400">
            <a:solidFill>
              <a:srgbClr val="3B5B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1828800"/>
            <a:ext cx="822960" cy="822960"/>
          </a:xfrm>
          <a:prstGeom prst="ellipse">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874519"/>
            <a:ext cx="822960" cy="731520"/>
          </a:xfrm>
          <a:prstGeom prst="rect">
            <a:avLst/>
          </a:prstGeom>
          <a:noFill/>
        </p:spPr>
        <p:txBody>
          <a:bodyPr wrap="square" lIns="45720" rIns="45720" tIns="18288" bIns="18288" anchor="t">
            <a:spAutoFit/>
          </a:bodyPr>
          <a:lstStyle/>
          <a:p>
            <a:pPr algn="ctr"/>
            <a:r>
              <a:rPr sz="2000" b="1">
                <a:solidFill>
                  <a:srgbClr val="FFFFFF"/>
                </a:solidFill>
                <a:latin typeface="Calibri"/>
              </a:rPr>
              <a:t>01</a:t>
            </a:r>
          </a:p>
        </p:txBody>
      </p:sp>
      <p:sp>
        <p:nvSpPr>
          <p:cNvPr id="13" name="TextBox 12"/>
          <p:cNvSpPr txBox="1"/>
          <p:nvPr/>
        </p:nvSpPr>
        <p:spPr>
          <a:xfrm>
            <a:off x="822960" y="2788920"/>
            <a:ext cx="3200400" cy="548640"/>
          </a:xfrm>
          <a:prstGeom prst="rect">
            <a:avLst/>
          </a:prstGeom>
          <a:noFill/>
        </p:spPr>
        <p:txBody>
          <a:bodyPr wrap="square" lIns="45720" rIns="45720" tIns="18288" bIns="18288" anchor="t">
            <a:spAutoFit/>
          </a:bodyPr>
          <a:lstStyle/>
          <a:p>
            <a:pPr algn="l"/>
            <a:r>
              <a:rPr sz="2200" b="1">
                <a:solidFill>
                  <a:srgbClr val="1E1B4B"/>
                </a:solidFill>
                <a:latin typeface="Calibri"/>
              </a:rPr>
              <a:t>Tool Sprawl</a:t>
            </a:r>
          </a:p>
        </p:txBody>
      </p:sp>
      <p:sp>
        <p:nvSpPr>
          <p:cNvPr id="14" name="TextBox 13"/>
          <p:cNvSpPr txBox="1"/>
          <p:nvPr/>
        </p:nvSpPr>
        <p:spPr>
          <a:xfrm>
            <a:off x="822960" y="3383280"/>
            <a:ext cx="3200400" cy="2286000"/>
          </a:xfrm>
          <a:prstGeom prst="rect">
            <a:avLst/>
          </a:prstGeom>
          <a:noFill/>
        </p:spPr>
        <p:txBody>
          <a:bodyPr wrap="square" lIns="45720" rIns="45720" tIns="18288" bIns="18288" anchor="t">
            <a:spAutoFit/>
          </a:bodyPr>
          <a:lstStyle/>
          <a:p>
            <a:pPr algn="l"/>
            <a:r>
              <a:rPr sz="1400" b="0">
                <a:solidFill>
                  <a:srgbClr val="64748B"/>
                </a:solidFill>
                <a:latin typeface="Calibri"/>
              </a:rPr>
              <a:t>Users need 4–5 different</a:t>
            </a:r>
          </a:p>
          <a:p>
            <a:pPr algn="l"/>
            <a:r>
              <a:rPr sz="1400" b="0">
                <a:solidFill>
                  <a:srgbClr val="64748B"/>
                </a:solidFill>
                <a:latin typeface="Calibri"/>
              </a:rPr>
              <a:t>AI platforms for various</a:t>
            </a:r>
          </a:p>
          <a:p>
            <a:pPr algn="l"/>
            <a:r>
              <a:rPr sz="1400" b="0">
                <a:solidFill>
                  <a:srgbClr val="64748B"/>
                </a:solidFill>
                <a:latin typeface="Calibri"/>
              </a:rPr>
              <a:t>tasks — context is lost</a:t>
            </a:r>
          </a:p>
          <a:p>
            <a:pPr algn="l"/>
            <a:r>
              <a:rPr sz="1400" b="0">
                <a:solidFill>
                  <a:srgbClr val="64748B"/>
                </a:solidFill>
                <a:latin typeface="Calibri"/>
              </a:rPr>
              <a:t>between them.</a:t>
            </a:r>
          </a:p>
        </p:txBody>
      </p:sp>
      <p:sp>
        <p:nvSpPr>
          <p:cNvPr id="15" name="Rounded Rectangle 14"/>
          <p:cNvSpPr/>
          <p:nvPr/>
        </p:nvSpPr>
        <p:spPr>
          <a:xfrm>
            <a:off x="4389120" y="1645920"/>
            <a:ext cx="3657600" cy="4206240"/>
          </a:xfrm>
          <a:prstGeom prst="roundRect">
            <a:avLst>
              <a:gd name="adj" fmla="val 4000"/>
            </a:avLst>
          </a:prstGeom>
          <a:solidFill>
            <a:srgbClr val="FFFFFF"/>
          </a:solidFill>
          <a:ln w="25400">
            <a:solidFill>
              <a:srgbClr val="704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63440" y="1828800"/>
            <a:ext cx="822960" cy="822960"/>
          </a:xfrm>
          <a:prstGeom prst="ellipse">
            <a:avLst/>
          </a:prstGeom>
          <a:solidFill>
            <a:srgbClr val="704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40" y="1874519"/>
            <a:ext cx="822960" cy="731520"/>
          </a:xfrm>
          <a:prstGeom prst="rect">
            <a:avLst/>
          </a:prstGeom>
          <a:noFill/>
        </p:spPr>
        <p:txBody>
          <a:bodyPr wrap="square" lIns="45720" rIns="45720" tIns="18288" bIns="18288" anchor="t">
            <a:spAutoFit/>
          </a:bodyPr>
          <a:lstStyle/>
          <a:p>
            <a:pPr algn="ctr"/>
            <a:r>
              <a:rPr sz="2000" b="1">
                <a:solidFill>
                  <a:srgbClr val="FFFFFF"/>
                </a:solidFill>
                <a:latin typeface="Calibri"/>
              </a:rPr>
              <a:t>02</a:t>
            </a:r>
          </a:p>
        </p:txBody>
      </p:sp>
      <p:sp>
        <p:nvSpPr>
          <p:cNvPr id="18" name="TextBox 17"/>
          <p:cNvSpPr txBox="1"/>
          <p:nvPr/>
        </p:nvSpPr>
        <p:spPr>
          <a:xfrm>
            <a:off x="4709160" y="2788920"/>
            <a:ext cx="3200400" cy="548640"/>
          </a:xfrm>
          <a:prstGeom prst="rect">
            <a:avLst/>
          </a:prstGeom>
          <a:noFill/>
        </p:spPr>
        <p:txBody>
          <a:bodyPr wrap="square" lIns="45720" rIns="45720" tIns="18288" bIns="18288" anchor="t">
            <a:spAutoFit/>
          </a:bodyPr>
          <a:lstStyle/>
          <a:p>
            <a:pPr algn="l"/>
            <a:r>
              <a:rPr sz="2200" b="1">
                <a:solidFill>
                  <a:srgbClr val="1E1B4B"/>
                </a:solidFill>
                <a:latin typeface="Calibri"/>
              </a:rPr>
              <a:t>Latency Wall</a:t>
            </a:r>
          </a:p>
        </p:txBody>
      </p:sp>
      <p:sp>
        <p:nvSpPr>
          <p:cNvPr id="19" name="TextBox 18"/>
          <p:cNvSpPr txBox="1"/>
          <p:nvPr/>
        </p:nvSpPr>
        <p:spPr>
          <a:xfrm>
            <a:off x="4709160" y="3383280"/>
            <a:ext cx="3200400" cy="2286000"/>
          </a:xfrm>
          <a:prstGeom prst="rect">
            <a:avLst/>
          </a:prstGeom>
          <a:noFill/>
        </p:spPr>
        <p:txBody>
          <a:bodyPr wrap="square" lIns="45720" rIns="45720" tIns="18288" bIns="18288" anchor="t">
            <a:spAutoFit/>
          </a:bodyPr>
          <a:lstStyle/>
          <a:p>
            <a:pPr algn="l"/>
            <a:r>
              <a:rPr sz="1400" b="0">
                <a:solidFill>
                  <a:srgbClr val="64748B"/>
                </a:solidFill>
                <a:latin typeface="Calibri"/>
              </a:rPr>
              <a:t>Public APIs slow down</a:t>
            </a:r>
          </a:p>
          <a:p>
            <a:pPr algn="l"/>
            <a:r>
              <a:rPr sz="1400" b="0">
                <a:solidFill>
                  <a:srgbClr val="64748B"/>
                </a:solidFill>
                <a:latin typeface="Calibri"/>
              </a:rPr>
              <a:t>under traffic; long</a:t>
            </a:r>
          </a:p>
          <a:p>
            <a:pPr algn="l"/>
            <a:r>
              <a:rPr sz="1400" b="0">
                <a:solidFill>
                  <a:srgbClr val="64748B"/>
                </a:solidFill>
                <a:latin typeface="Calibri"/>
              </a:rPr>
              <a:t>response times kill</a:t>
            </a:r>
          </a:p>
          <a:p>
            <a:pPr algn="l"/>
            <a:r>
              <a:rPr sz="1400" b="0">
                <a:solidFill>
                  <a:srgbClr val="64748B"/>
                </a:solidFill>
                <a:latin typeface="Calibri"/>
              </a:rPr>
              <a:t>productivity.</a:t>
            </a:r>
          </a:p>
        </p:txBody>
      </p:sp>
      <p:sp>
        <p:nvSpPr>
          <p:cNvPr id="20" name="Rounded Rectangle 19"/>
          <p:cNvSpPr/>
          <p:nvPr/>
        </p:nvSpPr>
        <p:spPr>
          <a:xfrm>
            <a:off x="8275320" y="1645920"/>
            <a:ext cx="3657600" cy="4206240"/>
          </a:xfrm>
          <a:prstGeom prst="roundRect">
            <a:avLst>
              <a:gd name="adj" fmla="val 4000"/>
            </a:avLst>
          </a:prstGeom>
          <a:solidFill>
            <a:srgbClr val="FFFFFF"/>
          </a:solidFill>
          <a:ln w="2540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549640" y="1828800"/>
            <a:ext cx="822960" cy="82296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49640" y="1874519"/>
            <a:ext cx="822960" cy="731520"/>
          </a:xfrm>
          <a:prstGeom prst="rect">
            <a:avLst/>
          </a:prstGeom>
          <a:noFill/>
        </p:spPr>
        <p:txBody>
          <a:bodyPr wrap="square" lIns="45720" rIns="45720" tIns="18288" bIns="18288" anchor="t">
            <a:spAutoFit/>
          </a:bodyPr>
          <a:lstStyle/>
          <a:p>
            <a:pPr algn="ctr"/>
            <a:r>
              <a:rPr sz="2000" b="1">
                <a:solidFill>
                  <a:srgbClr val="FFFFFF"/>
                </a:solidFill>
                <a:latin typeface="Calibri"/>
              </a:rPr>
              <a:t>03</a:t>
            </a:r>
          </a:p>
        </p:txBody>
      </p:sp>
      <p:sp>
        <p:nvSpPr>
          <p:cNvPr id="23" name="TextBox 22"/>
          <p:cNvSpPr txBox="1"/>
          <p:nvPr/>
        </p:nvSpPr>
        <p:spPr>
          <a:xfrm>
            <a:off x="8595360" y="2788920"/>
            <a:ext cx="3200400" cy="548640"/>
          </a:xfrm>
          <a:prstGeom prst="rect">
            <a:avLst/>
          </a:prstGeom>
          <a:noFill/>
        </p:spPr>
        <p:txBody>
          <a:bodyPr wrap="square" lIns="45720" rIns="45720" tIns="18288" bIns="18288" anchor="t">
            <a:spAutoFit/>
          </a:bodyPr>
          <a:lstStyle/>
          <a:p>
            <a:pPr algn="l"/>
            <a:r>
              <a:rPr sz="2200" b="1">
                <a:solidFill>
                  <a:srgbClr val="1E1B4B"/>
                </a:solidFill>
                <a:latin typeface="Calibri"/>
              </a:rPr>
              <a:t>Data Privacy</a:t>
            </a:r>
          </a:p>
        </p:txBody>
      </p:sp>
      <p:sp>
        <p:nvSpPr>
          <p:cNvPr id="24" name="TextBox 23"/>
          <p:cNvSpPr txBox="1"/>
          <p:nvPr/>
        </p:nvSpPr>
        <p:spPr>
          <a:xfrm>
            <a:off x="8595360" y="3383280"/>
            <a:ext cx="3200400" cy="2286000"/>
          </a:xfrm>
          <a:prstGeom prst="rect">
            <a:avLst/>
          </a:prstGeom>
          <a:noFill/>
        </p:spPr>
        <p:txBody>
          <a:bodyPr wrap="square" lIns="45720" rIns="45720" tIns="18288" bIns="18288" anchor="t">
            <a:spAutoFit/>
          </a:bodyPr>
          <a:lstStyle/>
          <a:p>
            <a:pPr algn="l"/>
            <a:r>
              <a:rPr sz="1400" b="0">
                <a:solidFill>
                  <a:srgbClr val="64748B"/>
                </a:solidFill>
                <a:latin typeface="Calibri"/>
              </a:rPr>
              <a:t>Sensitive resumes, exam</a:t>
            </a:r>
          </a:p>
          <a:p>
            <a:pPr algn="l"/>
            <a:r>
              <a:rPr sz="1400" b="0">
                <a:solidFill>
                  <a:srgbClr val="64748B"/>
                </a:solidFill>
                <a:latin typeface="Calibri"/>
              </a:rPr>
              <a:t>content and code are</a:t>
            </a:r>
          </a:p>
          <a:p>
            <a:pPr algn="l"/>
            <a:r>
              <a:rPr sz="1400" b="0">
                <a:solidFill>
                  <a:srgbClr val="64748B"/>
                </a:solidFill>
                <a:latin typeface="Calibri"/>
              </a:rPr>
              <a:t>shipped to third-party</a:t>
            </a:r>
          </a:p>
          <a:p>
            <a:pPr algn="l"/>
            <a:r>
              <a:rPr sz="1400" b="0">
                <a:solidFill>
                  <a:srgbClr val="64748B"/>
                </a:solidFill>
                <a:latin typeface="Calibri"/>
              </a:rPr>
              <a:t>clouds.</a:t>
            </a:r>
          </a:p>
        </p:txBody>
      </p:sp>
      <p:sp>
        <p:nvSpPr>
          <p:cNvPr id="25" name="Rounded Rectangle 24"/>
          <p:cNvSpPr/>
          <p:nvPr/>
        </p:nvSpPr>
        <p:spPr>
          <a:xfrm>
            <a:off x="502920" y="5989320"/>
            <a:ext cx="11201400" cy="411480"/>
          </a:xfrm>
          <a:prstGeom prst="roundRect">
            <a:avLst>
              <a:gd name="adj" fmla="val 3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5989320"/>
            <a:ext cx="11201400" cy="411480"/>
          </a:xfrm>
          <a:prstGeom prst="rect">
            <a:avLst/>
          </a:prstGeom>
          <a:noFill/>
        </p:spPr>
        <p:txBody>
          <a:bodyPr wrap="square" lIns="45720" rIns="45720" tIns="18288" bIns="18288" anchor="ctr">
            <a:spAutoFit/>
          </a:bodyPr>
          <a:lstStyle/>
          <a:p>
            <a:pPr algn="ctr"/>
            <a:r>
              <a:rPr sz="1400" b="1">
                <a:solidFill>
                  <a:srgbClr val="7048E8"/>
                </a:solidFill>
                <a:latin typeface="Calibri"/>
              </a:rPr>
              <a:t>There is no single platform that is unified, fast AND privacy-respecting.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Objectives</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What ElysiumAI aims to achieve</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4 / 17</a:t>
            </a:r>
          </a:p>
        </p:txBody>
      </p:sp>
      <p:sp>
        <p:nvSpPr>
          <p:cNvPr id="10" name="Rounded Rectangle 9"/>
          <p:cNvSpPr/>
          <p:nvPr/>
        </p:nvSpPr>
        <p:spPr>
          <a:xfrm>
            <a:off x="502920" y="1691640"/>
            <a:ext cx="5486400" cy="2057400"/>
          </a:xfrm>
          <a:prstGeom prst="roundRect">
            <a:avLst>
              <a:gd name="adj" fmla="val 4000"/>
            </a:avLst>
          </a:prstGeom>
          <a:solidFill>
            <a:srgbClr val="FFFFFF"/>
          </a:solidFill>
          <a:ln w="12700">
            <a:solidFill>
              <a:srgbClr val="EEF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691640"/>
            <a:ext cx="182880" cy="20574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874520"/>
            <a:ext cx="731520" cy="457200"/>
          </a:xfrm>
          <a:prstGeom prst="rect">
            <a:avLst/>
          </a:prstGeom>
          <a:noFill/>
        </p:spPr>
        <p:txBody>
          <a:bodyPr wrap="square" lIns="45720" rIns="45720" tIns="18288" bIns="18288" anchor="t">
            <a:spAutoFit/>
          </a:bodyPr>
          <a:lstStyle/>
          <a:p>
            <a:pPr algn="l"/>
            <a:r>
              <a:rPr sz="1400" b="1">
                <a:solidFill>
                  <a:srgbClr val="3B5BDB"/>
                </a:solidFill>
                <a:latin typeface="Calibri"/>
              </a:rPr>
              <a:t>01</a:t>
            </a:r>
          </a:p>
        </p:txBody>
      </p:sp>
      <p:sp>
        <p:nvSpPr>
          <p:cNvPr id="13" name="TextBox 12"/>
          <p:cNvSpPr txBox="1"/>
          <p:nvPr/>
        </p:nvSpPr>
        <p:spPr>
          <a:xfrm>
            <a:off x="868680" y="2194560"/>
            <a:ext cx="4937760" cy="548640"/>
          </a:xfrm>
          <a:prstGeom prst="rect">
            <a:avLst/>
          </a:prstGeom>
          <a:noFill/>
        </p:spPr>
        <p:txBody>
          <a:bodyPr wrap="square" lIns="45720" rIns="45720" tIns="18288" bIns="18288" anchor="t">
            <a:spAutoFit/>
          </a:bodyPr>
          <a:lstStyle/>
          <a:p>
            <a:pPr algn="l"/>
            <a:r>
              <a:rPr sz="2200" b="1">
                <a:solidFill>
                  <a:srgbClr val="1E1B4B"/>
                </a:solidFill>
                <a:latin typeface="Calibri"/>
              </a:rPr>
              <a:t>Unified AI Platform</a:t>
            </a:r>
          </a:p>
        </p:txBody>
      </p:sp>
      <p:sp>
        <p:nvSpPr>
          <p:cNvPr id="14" name="TextBox 13"/>
          <p:cNvSpPr txBox="1"/>
          <p:nvPr/>
        </p:nvSpPr>
        <p:spPr>
          <a:xfrm>
            <a:off x="868680" y="2834640"/>
            <a:ext cx="4937760" cy="822960"/>
          </a:xfrm>
          <a:prstGeom prst="rect">
            <a:avLst/>
          </a:prstGeom>
          <a:noFill/>
        </p:spPr>
        <p:txBody>
          <a:bodyPr wrap="square" lIns="45720" rIns="45720" tIns="18288" bIns="18288" anchor="t">
            <a:spAutoFit/>
          </a:bodyPr>
          <a:lstStyle/>
          <a:p>
            <a:pPr algn="l"/>
            <a:r>
              <a:rPr sz="1300" b="0">
                <a:solidFill>
                  <a:srgbClr val="64748B"/>
                </a:solidFill>
                <a:latin typeface="Calibri"/>
              </a:rPr>
              <a:t>One interface for chat, summarization, quiz, resume &amp; image generation.</a:t>
            </a:r>
          </a:p>
        </p:txBody>
      </p:sp>
      <p:sp>
        <p:nvSpPr>
          <p:cNvPr id="15" name="Rounded Rectangle 14"/>
          <p:cNvSpPr/>
          <p:nvPr/>
        </p:nvSpPr>
        <p:spPr>
          <a:xfrm>
            <a:off x="6172200" y="1691640"/>
            <a:ext cx="5486400" cy="2057400"/>
          </a:xfrm>
          <a:prstGeom prst="roundRect">
            <a:avLst>
              <a:gd name="adj" fmla="val 4000"/>
            </a:avLst>
          </a:prstGeom>
          <a:solidFill>
            <a:srgbClr val="FFFFFF"/>
          </a:solidFill>
          <a:ln w="12700">
            <a:solidFill>
              <a:srgbClr val="EEF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691640"/>
            <a:ext cx="182880" cy="205740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1874520"/>
            <a:ext cx="731520" cy="457200"/>
          </a:xfrm>
          <a:prstGeom prst="rect">
            <a:avLst/>
          </a:prstGeom>
          <a:noFill/>
        </p:spPr>
        <p:txBody>
          <a:bodyPr wrap="square" lIns="45720" rIns="45720" tIns="18288" bIns="18288" anchor="t">
            <a:spAutoFit/>
          </a:bodyPr>
          <a:lstStyle/>
          <a:p>
            <a:pPr algn="l"/>
            <a:r>
              <a:rPr sz="1400" b="1">
                <a:solidFill>
                  <a:srgbClr val="7048E8"/>
                </a:solidFill>
                <a:latin typeface="Calibri"/>
              </a:rPr>
              <a:t>02</a:t>
            </a:r>
          </a:p>
        </p:txBody>
      </p:sp>
      <p:sp>
        <p:nvSpPr>
          <p:cNvPr id="18" name="TextBox 17"/>
          <p:cNvSpPr txBox="1"/>
          <p:nvPr/>
        </p:nvSpPr>
        <p:spPr>
          <a:xfrm>
            <a:off x="6537960" y="2194560"/>
            <a:ext cx="4937760" cy="548640"/>
          </a:xfrm>
          <a:prstGeom prst="rect">
            <a:avLst/>
          </a:prstGeom>
          <a:noFill/>
        </p:spPr>
        <p:txBody>
          <a:bodyPr wrap="square" lIns="45720" rIns="45720" tIns="18288" bIns="18288" anchor="t">
            <a:spAutoFit/>
          </a:bodyPr>
          <a:lstStyle/>
          <a:p>
            <a:pPr algn="l"/>
            <a:r>
              <a:rPr sz="2200" b="1">
                <a:solidFill>
                  <a:srgbClr val="1E1B4B"/>
                </a:solidFill>
                <a:latin typeface="Calibri"/>
              </a:rPr>
              <a:t>Proprietary SLM</a:t>
            </a:r>
          </a:p>
        </p:txBody>
      </p:sp>
      <p:sp>
        <p:nvSpPr>
          <p:cNvPr id="19" name="TextBox 18"/>
          <p:cNvSpPr txBox="1"/>
          <p:nvPr/>
        </p:nvSpPr>
        <p:spPr>
          <a:xfrm>
            <a:off x="6537960" y="2834640"/>
            <a:ext cx="4937760" cy="822960"/>
          </a:xfrm>
          <a:prstGeom prst="rect">
            <a:avLst/>
          </a:prstGeom>
          <a:noFill/>
        </p:spPr>
        <p:txBody>
          <a:bodyPr wrap="square" lIns="45720" rIns="45720" tIns="18288" bIns="18288" anchor="t">
            <a:spAutoFit/>
          </a:bodyPr>
          <a:lstStyle/>
          <a:p>
            <a:pPr algn="l"/>
            <a:r>
              <a:rPr sz="1300" b="0">
                <a:solidFill>
                  <a:srgbClr val="64748B"/>
                </a:solidFill>
                <a:latin typeface="Calibri"/>
              </a:rPr>
              <a:t>Lightweight Small Language Model trained in-house using PyTorch.</a:t>
            </a:r>
          </a:p>
        </p:txBody>
      </p:sp>
      <p:sp>
        <p:nvSpPr>
          <p:cNvPr id="20" name="Rounded Rectangle 19"/>
          <p:cNvSpPr/>
          <p:nvPr/>
        </p:nvSpPr>
        <p:spPr>
          <a:xfrm>
            <a:off x="502920" y="3931920"/>
            <a:ext cx="5486400" cy="2057400"/>
          </a:xfrm>
          <a:prstGeom prst="roundRect">
            <a:avLst>
              <a:gd name="adj" fmla="val 4000"/>
            </a:avLst>
          </a:prstGeom>
          <a:solidFill>
            <a:srgbClr val="FFFFFF"/>
          </a:solidFill>
          <a:ln w="12700">
            <a:solidFill>
              <a:srgbClr val="EEF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3931920"/>
            <a:ext cx="182880" cy="2057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114800"/>
            <a:ext cx="731520" cy="457200"/>
          </a:xfrm>
          <a:prstGeom prst="rect">
            <a:avLst/>
          </a:prstGeom>
          <a:noFill/>
        </p:spPr>
        <p:txBody>
          <a:bodyPr wrap="square" lIns="45720" rIns="45720" tIns="18288" bIns="18288" anchor="t">
            <a:spAutoFit/>
          </a:bodyPr>
          <a:lstStyle/>
          <a:p>
            <a:pPr algn="l"/>
            <a:r>
              <a:rPr sz="1400" b="1">
                <a:solidFill>
                  <a:srgbClr val="10B981"/>
                </a:solidFill>
                <a:latin typeface="Calibri"/>
              </a:rPr>
              <a:t>03</a:t>
            </a:r>
          </a:p>
        </p:txBody>
      </p:sp>
      <p:sp>
        <p:nvSpPr>
          <p:cNvPr id="23" name="TextBox 22"/>
          <p:cNvSpPr txBox="1"/>
          <p:nvPr/>
        </p:nvSpPr>
        <p:spPr>
          <a:xfrm>
            <a:off x="868680" y="4434840"/>
            <a:ext cx="4937760" cy="548640"/>
          </a:xfrm>
          <a:prstGeom prst="rect">
            <a:avLst/>
          </a:prstGeom>
          <a:noFill/>
        </p:spPr>
        <p:txBody>
          <a:bodyPr wrap="square" lIns="45720" rIns="45720" tIns="18288" bIns="18288" anchor="t">
            <a:spAutoFit/>
          </a:bodyPr>
          <a:lstStyle/>
          <a:p>
            <a:pPr algn="l"/>
            <a:r>
              <a:rPr sz="2200" b="1">
                <a:solidFill>
                  <a:srgbClr val="1E1B4B"/>
                </a:solidFill>
                <a:latin typeface="Calibri"/>
              </a:rPr>
              <a:t>25% Lower Latency</a:t>
            </a:r>
          </a:p>
        </p:txBody>
      </p:sp>
      <p:sp>
        <p:nvSpPr>
          <p:cNvPr id="24" name="TextBox 23"/>
          <p:cNvSpPr txBox="1"/>
          <p:nvPr/>
        </p:nvSpPr>
        <p:spPr>
          <a:xfrm>
            <a:off x="868680" y="5074920"/>
            <a:ext cx="4937760" cy="822960"/>
          </a:xfrm>
          <a:prstGeom prst="rect">
            <a:avLst/>
          </a:prstGeom>
          <a:noFill/>
        </p:spPr>
        <p:txBody>
          <a:bodyPr wrap="square" lIns="45720" rIns="45720" tIns="18288" bIns="18288" anchor="t">
            <a:spAutoFit/>
          </a:bodyPr>
          <a:lstStyle/>
          <a:p>
            <a:pPr algn="l"/>
            <a:r>
              <a:rPr sz="1300" b="0">
                <a:solidFill>
                  <a:srgbClr val="64748B"/>
                </a:solidFill>
                <a:latin typeface="Calibri"/>
              </a:rPr>
              <a:t>Achieved via smart routing, caching and local inference fall-back.</a:t>
            </a:r>
          </a:p>
        </p:txBody>
      </p:sp>
      <p:sp>
        <p:nvSpPr>
          <p:cNvPr id="25" name="Rounded Rectangle 24"/>
          <p:cNvSpPr/>
          <p:nvPr/>
        </p:nvSpPr>
        <p:spPr>
          <a:xfrm>
            <a:off x="6172200" y="3931920"/>
            <a:ext cx="5486400" cy="2057400"/>
          </a:xfrm>
          <a:prstGeom prst="roundRect">
            <a:avLst>
              <a:gd name="adj" fmla="val 4000"/>
            </a:avLst>
          </a:prstGeom>
          <a:solidFill>
            <a:srgbClr val="FFFFFF"/>
          </a:solidFill>
          <a:ln w="12700">
            <a:solidFill>
              <a:srgbClr val="EEF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2200" y="3931920"/>
            <a:ext cx="182880" cy="20574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37960" y="4114800"/>
            <a:ext cx="731520" cy="457200"/>
          </a:xfrm>
          <a:prstGeom prst="rect">
            <a:avLst/>
          </a:prstGeom>
          <a:noFill/>
        </p:spPr>
        <p:txBody>
          <a:bodyPr wrap="square" lIns="45720" rIns="45720" tIns="18288" bIns="18288" anchor="t">
            <a:spAutoFit/>
          </a:bodyPr>
          <a:lstStyle/>
          <a:p>
            <a:pPr algn="l"/>
            <a:r>
              <a:rPr sz="1400" b="1">
                <a:solidFill>
                  <a:srgbClr val="F97316"/>
                </a:solidFill>
                <a:latin typeface="Calibri"/>
              </a:rPr>
              <a:t>04</a:t>
            </a:r>
          </a:p>
        </p:txBody>
      </p:sp>
      <p:sp>
        <p:nvSpPr>
          <p:cNvPr id="28" name="TextBox 27"/>
          <p:cNvSpPr txBox="1"/>
          <p:nvPr/>
        </p:nvSpPr>
        <p:spPr>
          <a:xfrm>
            <a:off x="6537960" y="4434840"/>
            <a:ext cx="4937760" cy="548640"/>
          </a:xfrm>
          <a:prstGeom prst="rect">
            <a:avLst/>
          </a:prstGeom>
          <a:noFill/>
        </p:spPr>
        <p:txBody>
          <a:bodyPr wrap="square" lIns="45720" rIns="45720" tIns="18288" bIns="18288" anchor="t">
            <a:spAutoFit/>
          </a:bodyPr>
          <a:lstStyle/>
          <a:p>
            <a:pPr algn="l"/>
            <a:r>
              <a:rPr sz="2200" b="1">
                <a:solidFill>
                  <a:srgbClr val="1E1B4B"/>
                </a:solidFill>
                <a:latin typeface="Calibri"/>
              </a:rPr>
              <a:t>300+ Concurrent Users</a:t>
            </a:r>
          </a:p>
        </p:txBody>
      </p:sp>
      <p:sp>
        <p:nvSpPr>
          <p:cNvPr id="29" name="TextBox 28"/>
          <p:cNvSpPr txBox="1"/>
          <p:nvPr/>
        </p:nvSpPr>
        <p:spPr>
          <a:xfrm>
            <a:off x="6537960" y="5074920"/>
            <a:ext cx="4937760" cy="822960"/>
          </a:xfrm>
          <a:prstGeom prst="rect">
            <a:avLst/>
          </a:prstGeom>
          <a:noFill/>
        </p:spPr>
        <p:txBody>
          <a:bodyPr wrap="square" lIns="45720" rIns="45720" tIns="18288" bIns="18288" anchor="t">
            <a:spAutoFit/>
          </a:bodyPr>
          <a:lstStyle/>
          <a:p>
            <a:pPr algn="l"/>
            <a:r>
              <a:rPr sz="1300" b="0">
                <a:solidFill>
                  <a:srgbClr val="64748B"/>
                </a:solidFill>
                <a:latin typeface="Calibri"/>
              </a:rPr>
              <a:t>Designed for college-scale concurrent load with horizontal scaling.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Proposed Solution</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ElysiumAI — orchestration over isolation</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5 / 17</a:t>
            </a:r>
          </a:p>
        </p:txBody>
      </p:sp>
      <p:sp>
        <p:nvSpPr>
          <p:cNvPr id="10" name="Rounded Rectangle 9"/>
          <p:cNvSpPr/>
          <p:nvPr/>
        </p:nvSpPr>
        <p:spPr>
          <a:xfrm>
            <a:off x="502920" y="1645920"/>
            <a:ext cx="5486400" cy="4572000"/>
          </a:xfrm>
          <a:prstGeom prst="roundRect">
            <a:avLst>
              <a:gd name="adj" fmla="val 4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83080"/>
            <a:ext cx="5029200" cy="365760"/>
          </a:xfrm>
          <a:prstGeom prst="rect">
            <a:avLst/>
          </a:prstGeom>
          <a:noFill/>
        </p:spPr>
        <p:txBody>
          <a:bodyPr wrap="square" lIns="45720" rIns="45720" tIns="18288" bIns="18288" anchor="t">
            <a:spAutoFit/>
          </a:bodyPr>
          <a:lstStyle/>
          <a:p>
            <a:pPr algn="l"/>
            <a:r>
              <a:rPr sz="1300" b="1">
                <a:solidFill>
                  <a:srgbClr val="7048E8"/>
                </a:solidFill>
                <a:latin typeface="Calibri"/>
              </a:rPr>
              <a:t>WHAT IS ElysiumAI?</a:t>
            </a:r>
          </a:p>
        </p:txBody>
      </p:sp>
      <p:sp>
        <p:nvSpPr>
          <p:cNvPr id="12" name="TextBox 11"/>
          <p:cNvSpPr txBox="1"/>
          <p:nvPr/>
        </p:nvSpPr>
        <p:spPr>
          <a:xfrm>
            <a:off x="777240" y="2194560"/>
            <a:ext cx="5029200" cy="4114800"/>
          </a:xfrm>
          <a:prstGeom prst="rect">
            <a:avLst/>
          </a:prstGeom>
          <a:noFill/>
        </p:spPr>
        <p:txBody>
          <a:bodyPr wrap="square">
            <a:spAutoFit/>
          </a:bodyPr>
          <a:lstStyle/>
          <a:p>
            <a:pPr algn="l">
              <a:lnSpc>
                <a:spcPct val="125000"/>
              </a:lnSpc>
              <a:spcAft>
                <a:spcPts val="600"/>
              </a:spcAft>
            </a:pPr>
            <a:r>
              <a:rPr sz="1500" b="1">
                <a:solidFill>
                  <a:srgbClr val="7048E8"/>
                </a:solidFill>
                <a:latin typeface="Calibri"/>
              </a:rPr>
              <a:t>▸  </a:t>
            </a:r>
            <a:r>
              <a:rPr sz="1500">
                <a:solidFill>
                  <a:srgbClr val="1E1B4B"/>
                </a:solidFill>
                <a:latin typeface="Calibri"/>
              </a:rPr>
              <a:t>An AI gateway that routes each request to the BEST model</a:t>
            </a:r>
          </a:p>
          <a:p>
            <a:pPr algn="l">
              <a:lnSpc>
                <a:spcPct val="125000"/>
              </a:lnSpc>
              <a:spcAft>
                <a:spcPts val="600"/>
              </a:spcAft>
            </a:pPr>
            <a:r>
              <a:rPr sz="1500" b="1">
                <a:solidFill>
                  <a:srgbClr val="7048E8"/>
                </a:solidFill>
                <a:latin typeface="Calibri"/>
              </a:rPr>
              <a:t>▸  </a:t>
            </a:r>
            <a:r>
              <a:rPr sz="1500">
                <a:solidFill>
                  <a:srgbClr val="1E1B4B"/>
                </a:solidFill>
                <a:latin typeface="Calibri"/>
              </a:rPr>
              <a:t>Combines premium cloud LLMs with a local on-device SLM</a:t>
            </a:r>
          </a:p>
          <a:p>
            <a:pPr algn="l">
              <a:lnSpc>
                <a:spcPct val="125000"/>
              </a:lnSpc>
              <a:spcAft>
                <a:spcPts val="600"/>
              </a:spcAft>
            </a:pPr>
            <a:r>
              <a:rPr sz="1500" b="1">
                <a:solidFill>
                  <a:srgbClr val="7048E8"/>
                </a:solidFill>
                <a:latin typeface="Calibri"/>
              </a:rPr>
              <a:t>▸  </a:t>
            </a:r>
            <a:r>
              <a:rPr sz="1500">
                <a:solidFill>
                  <a:srgbClr val="1E1B4B"/>
                </a:solidFill>
                <a:latin typeface="Calibri"/>
              </a:rPr>
              <a:t>Built around a smart router (LangChain) — not a single LLM</a:t>
            </a:r>
          </a:p>
          <a:p>
            <a:pPr algn="l">
              <a:lnSpc>
                <a:spcPct val="125000"/>
              </a:lnSpc>
              <a:spcAft>
                <a:spcPts val="600"/>
              </a:spcAft>
            </a:pPr>
            <a:r>
              <a:rPr sz="1500" b="1">
                <a:solidFill>
                  <a:srgbClr val="7048E8"/>
                </a:solidFill>
                <a:latin typeface="Calibri"/>
              </a:rPr>
              <a:t>▸  </a:t>
            </a:r>
            <a:r>
              <a:rPr sz="1500">
                <a:solidFill>
                  <a:srgbClr val="1E1B4B"/>
                </a:solidFill>
                <a:latin typeface="Calibri"/>
              </a:rPr>
              <a:t>Modular: add new models without changing the frontend</a:t>
            </a:r>
          </a:p>
          <a:p>
            <a:pPr algn="l">
              <a:lnSpc>
                <a:spcPct val="125000"/>
              </a:lnSpc>
              <a:spcAft>
                <a:spcPts val="600"/>
              </a:spcAft>
            </a:pPr>
            <a:r>
              <a:rPr sz="1500" b="1">
                <a:solidFill>
                  <a:srgbClr val="7048E8"/>
                </a:solidFill>
                <a:latin typeface="Calibri"/>
              </a:rPr>
              <a:t>▸  </a:t>
            </a:r>
            <a:r>
              <a:rPr sz="1500">
                <a:solidFill>
                  <a:srgbClr val="1E1B4B"/>
                </a:solidFill>
                <a:latin typeface="Calibri"/>
              </a:rPr>
              <a:t>Privacy-first: sensitive workloads stay on-device</a:t>
            </a:r>
          </a:p>
        </p:txBody>
      </p:sp>
      <p:sp>
        <p:nvSpPr>
          <p:cNvPr id="13" name="Rounded Rectangle 12"/>
          <p:cNvSpPr/>
          <p:nvPr/>
        </p:nvSpPr>
        <p:spPr>
          <a:xfrm>
            <a:off x="6263640" y="1645920"/>
            <a:ext cx="5486400" cy="4572000"/>
          </a:xfrm>
          <a:prstGeom prst="roundRect">
            <a:avLst>
              <a:gd name="adj" fmla="val 4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783080"/>
            <a:ext cx="5029200" cy="365760"/>
          </a:xfrm>
          <a:prstGeom prst="rect">
            <a:avLst/>
          </a:prstGeom>
          <a:noFill/>
        </p:spPr>
        <p:txBody>
          <a:bodyPr wrap="square" lIns="45720" rIns="45720" tIns="18288" bIns="18288" anchor="t">
            <a:spAutoFit/>
          </a:bodyPr>
          <a:lstStyle/>
          <a:p>
            <a:pPr algn="l"/>
            <a:r>
              <a:rPr sz="1300" b="1">
                <a:solidFill>
                  <a:srgbClr val="3B5BDB"/>
                </a:solidFill>
                <a:latin typeface="Calibri"/>
              </a:rPr>
              <a:t>HYBRID INTELLIGENCE</a:t>
            </a:r>
          </a:p>
        </p:txBody>
      </p:sp>
      <p:sp>
        <p:nvSpPr>
          <p:cNvPr id="15" name="Cloud 14"/>
          <p:cNvSpPr/>
          <p:nvPr/>
        </p:nvSpPr>
        <p:spPr>
          <a:xfrm>
            <a:off x="6675120" y="2286000"/>
            <a:ext cx="2194560" cy="1280160"/>
          </a:xfrm>
          <a:prstGeom prst="cloud">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2377440"/>
            <a:ext cx="2194560" cy="1097280"/>
          </a:xfrm>
          <a:prstGeom prst="rect">
            <a:avLst/>
          </a:prstGeom>
          <a:noFill/>
        </p:spPr>
        <p:txBody>
          <a:bodyPr wrap="square" lIns="45720" rIns="45720" tIns="18288" bIns="18288" anchor="ctr">
            <a:spAutoFit/>
          </a:bodyPr>
          <a:lstStyle/>
          <a:p>
            <a:pPr algn="ctr"/>
            <a:r>
              <a:rPr sz="1400" b="1">
                <a:solidFill>
                  <a:srgbClr val="FFFFFF"/>
                </a:solidFill>
                <a:latin typeface="Calibri"/>
              </a:rPr>
              <a:t>CLOUD</a:t>
            </a:r>
          </a:p>
          <a:p>
            <a:pPr algn="ctr"/>
            <a:r>
              <a:rPr sz="1400" b="1">
                <a:solidFill>
                  <a:srgbClr val="FFFFFF"/>
                </a:solidFill>
                <a:latin typeface="Calibri"/>
              </a:rPr>
              <a:t>Gemini · Groq</a:t>
            </a:r>
          </a:p>
        </p:txBody>
      </p:sp>
      <p:sp>
        <p:nvSpPr>
          <p:cNvPr id="17" name="Rounded Rectangle 16"/>
          <p:cNvSpPr/>
          <p:nvPr/>
        </p:nvSpPr>
        <p:spPr>
          <a:xfrm>
            <a:off x="9144000" y="2377440"/>
            <a:ext cx="2377440" cy="1097280"/>
          </a:xfrm>
          <a:prstGeom prst="roundRect">
            <a:avLst>
              <a:gd name="adj" fmla="val 10000"/>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2377440"/>
            <a:ext cx="2377440" cy="1097280"/>
          </a:xfrm>
          <a:prstGeom prst="rect">
            <a:avLst/>
          </a:prstGeom>
          <a:noFill/>
        </p:spPr>
        <p:txBody>
          <a:bodyPr wrap="square" lIns="45720" rIns="45720" tIns="18288" bIns="18288" anchor="ctr">
            <a:spAutoFit/>
          </a:bodyPr>
          <a:lstStyle/>
          <a:p>
            <a:pPr algn="ctr"/>
            <a:r>
              <a:rPr sz="1400" b="1">
                <a:solidFill>
                  <a:srgbClr val="FFFFFF"/>
                </a:solidFill>
                <a:latin typeface="Calibri"/>
              </a:rPr>
              <a:t>LOCAL</a:t>
            </a:r>
          </a:p>
          <a:p>
            <a:pPr algn="ctr"/>
            <a:r>
              <a:rPr sz="1400" b="1">
                <a:solidFill>
                  <a:srgbClr val="FFFFFF"/>
                </a:solidFill>
                <a:latin typeface="Calibri"/>
              </a:rPr>
              <a:t>Ollama · SLM</a:t>
            </a:r>
          </a:p>
        </p:txBody>
      </p:sp>
      <p:sp>
        <p:nvSpPr>
          <p:cNvPr id="19" name="Left-Right Arrow 18"/>
          <p:cNvSpPr/>
          <p:nvPr/>
        </p:nvSpPr>
        <p:spPr>
          <a:xfrm>
            <a:off x="8869680" y="2788920"/>
            <a:ext cx="365760" cy="274320"/>
          </a:xfrm>
          <a:prstGeom prst="leftRightArrow">
            <a:avLst/>
          </a:prstGeom>
          <a:solidFill>
            <a:srgbClr val="704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3840480"/>
            <a:ext cx="5212080" cy="2286000"/>
          </a:xfrm>
          <a:prstGeom prst="rect">
            <a:avLst/>
          </a:prstGeom>
          <a:noFill/>
        </p:spPr>
        <p:txBody>
          <a:bodyPr wrap="square">
            <a:spAutoFit/>
          </a:bodyPr>
          <a:lstStyle/>
          <a:p>
            <a:pPr algn="l">
              <a:lnSpc>
                <a:spcPct val="125000"/>
              </a:lnSpc>
              <a:spcAft>
                <a:spcPts val="600"/>
              </a:spcAft>
            </a:pPr>
            <a:r>
              <a:rPr sz="1400" b="1">
                <a:solidFill>
                  <a:srgbClr val="3B5BDB"/>
                </a:solidFill>
                <a:latin typeface="Calibri"/>
              </a:rPr>
              <a:t>▸  </a:t>
            </a:r>
            <a:r>
              <a:rPr sz="1400">
                <a:solidFill>
                  <a:srgbClr val="1E1B4B"/>
                </a:solidFill>
                <a:latin typeface="Calibri"/>
              </a:rPr>
              <a:t>Cloud → high-accuracy reasoning &amp; creativity</a:t>
            </a:r>
          </a:p>
          <a:p>
            <a:pPr algn="l">
              <a:lnSpc>
                <a:spcPct val="125000"/>
              </a:lnSpc>
              <a:spcAft>
                <a:spcPts val="600"/>
              </a:spcAft>
            </a:pPr>
            <a:r>
              <a:rPr sz="1400" b="1">
                <a:solidFill>
                  <a:srgbClr val="3B5BDB"/>
                </a:solidFill>
                <a:latin typeface="Calibri"/>
              </a:rPr>
              <a:t>▸  </a:t>
            </a:r>
            <a:r>
              <a:rPr sz="1400">
                <a:solidFill>
                  <a:srgbClr val="1E1B4B"/>
                </a:solidFill>
                <a:latin typeface="Calibri"/>
              </a:rPr>
              <a:t>Local → instant, offline, private inference</a:t>
            </a:r>
          </a:p>
          <a:p>
            <a:pPr algn="l">
              <a:lnSpc>
                <a:spcPct val="125000"/>
              </a:lnSpc>
              <a:spcAft>
                <a:spcPts val="600"/>
              </a:spcAft>
            </a:pPr>
            <a:r>
              <a:rPr sz="1400" b="1">
                <a:solidFill>
                  <a:srgbClr val="3B5BDB"/>
                </a:solidFill>
                <a:latin typeface="Calibri"/>
              </a:rPr>
              <a:t>▸  </a:t>
            </a:r>
            <a:r>
              <a:rPr sz="1400">
                <a:solidFill>
                  <a:srgbClr val="1E1B4B"/>
                </a:solidFill>
                <a:latin typeface="Calibri"/>
              </a:rPr>
              <a:t>Router decides per request in real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System Architecture</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Three-tier design with intelligent orchestration</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6 / 17</a:t>
            </a:r>
          </a:p>
        </p:txBody>
      </p:sp>
      <p:pic>
        <p:nvPicPr>
          <p:cNvPr id="10" name="Picture 9" descr="architecture.png"/>
          <p:cNvPicPr>
            <a:picLocks noChangeAspect="1"/>
          </p:cNvPicPr>
          <p:nvPr/>
        </p:nvPicPr>
        <p:blipFill>
          <a:blip r:embed="rId2"/>
          <a:stretch>
            <a:fillRect/>
          </a:stretch>
        </p:blipFill>
        <p:spPr>
          <a:xfrm>
            <a:off x="548640" y="1463040"/>
            <a:ext cx="11064240" cy="6884416"/>
          </a:xfrm>
          <a:prstGeom prst="rect">
            <a:avLst/>
          </a:prstGeom>
        </p:spPr>
      </p:pic>
      <p:sp>
        <p:nvSpPr>
          <p:cNvPr id="11" name="TextBox 10"/>
          <p:cNvSpPr txBox="1"/>
          <p:nvPr/>
        </p:nvSpPr>
        <p:spPr>
          <a:xfrm>
            <a:off x="548640" y="6400800"/>
            <a:ext cx="10972800" cy="274320"/>
          </a:xfrm>
          <a:prstGeom prst="rect">
            <a:avLst/>
          </a:prstGeom>
          <a:noFill/>
        </p:spPr>
        <p:txBody>
          <a:bodyPr wrap="square" lIns="45720" rIns="45720" tIns="18288" bIns="18288" anchor="t">
            <a:spAutoFit/>
          </a:bodyPr>
          <a:lstStyle/>
          <a:p>
            <a:pPr algn="l"/>
            <a:r>
              <a:rPr sz="1100" b="0">
                <a:solidFill>
                  <a:srgbClr val="64748B"/>
                </a:solidFill>
                <a:latin typeface="Calibri"/>
              </a:rPr>
              <a:t>Diagram: Frontend (React) → Backend (Flask + Smart Router) → Model Layer (Cloud + Local + SLM)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Key Features</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Four flagship modules in the unified dashboard</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7 / 17</a:t>
            </a:r>
          </a:p>
        </p:txBody>
      </p:sp>
      <p:sp>
        <p:nvSpPr>
          <p:cNvPr id="10" name="Rounded Rectangle 9"/>
          <p:cNvSpPr/>
          <p:nvPr/>
        </p:nvSpPr>
        <p:spPr>
          <a:xfrm>
            <a:off x="502920" y="1691640"/>
            <a:ext cx="5486400" cy="2103120"/>
          </a:xfrm>
          <a:prstGeom prst="roundRect">
            <a:avLst>
              <a:gd name="adj" fmla="val 4000"/>
            </a:avLst>
          </a:prstGeom>
          <a:solidFill>
            <a:srgbClr val="FFFFFF"/>
          </a:solidFill>
          <a:ln w="19050">
            <a:solidFill>
              <a:srgbClr val="3B5B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2011680"/>
            <a:ext cx="1280160" cy="1280160"/>
          </a:xfrm>
          <a:prstGeom prst="roundRect">
            <a:avLst>
              <a:gd name="adj" fmla="val 20000"/>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011680"/>
            <a:ext cx="1280160" cy="1280160"/>
          </a:xfrm>
          <a:prstGeom prst="rect">
            <a:avLst/>
          </a:prstGeom>
          <a:noFill/>
        </p:spPr>
        <p:txBody>
          <a:bodyPr wrap="square" lIns="45720" rIns="45720" tIns="18288" bIns="18288" anchor="ctr">
            <a:spAutoFit/>
          </a:bodyPr>
          <a:lstStyle/>
          <a:p>
            <a:pPr algn="ctr"/>
            <a:r>
              <a:rPr sz="2800" b="1">
                <a:solidFill>
                  <a:srgbClr val="FFFFFF"/>
                </a:solidFill>
                <a:latin typeface="Calibri"/>
              </a:rPr>
              <a:t>01</a:t>
            </a:r>
          </a:p>
        </p:txBody>
      </p:sp>
      <p:sp>
        <p:nvSpPr>
          <p:cNvPr id="13" name="TextBox 12"/>
          <p:cNvSpPr txBox="1"/>
          <p:nvPr/>
        </p:nvSpPr>
        <p:spPr>
          <a:xfrm>
            <a:off x="2286000" y="2103120"/>
            <a:ext cx="3657600" cy="548640"/>
          </a:xfrm>
          <a:prstGeom prst="rect">
            <a:avLst/>
          </a:prstGeom>
          <a:noFill/>
        </p:spPr>
        <p:txBody>
          <a:bodyPr wrap="square" lIns="45720" rIns="45720" tIns="18288" bIns="18288" anchor="t">
            <a:spAutoFit/>
          </a:bodyPr>
          <a:lstStyle/>
          <a:p>
            <a:pPr algn="l"/>
            <a:r>
              <a:rPr sz="2200" b="1">
                <a:solidFill>
                  <a:srgbClr val="1E1B4B"/>
                </a:solidFill>
                <a:latin typeface="Calibri"/>
              </a:rPr>
              <a:t>Text Summarizer</a:t>
            </a:r>
          </a:p>
        </p:txBody>
      </p:sp>
      <p:sp>
        <p:nvSpPr>
          <p:cNvPr id="14" name="TextBox 13"/>
          <p:cNvSpPr txBox="1"/>
          <p:nvPr/>
        </p:nvSpPr>
        <p:spPr>
          <a:xfrm>
            <a:off x="2286000" y="2697480"/>
            <a:ext cx="3657600" cy="914400"/>
          </a:xfrm>
          <a:prstGeom prst="rect">
            <a:avLst/>
          </a:prstGeom>
          <a:noFill/>
        </p:spPr>
        <p:txBody>
          <a:bodyPr wrap="square" lIns="45720" rIns="45720" tIns="18288" bIns="18288" anchor="t">
            <a:spAutoFit/>
          </a:bodyPr>
          <a:lstStyle/>
          <a:p>
            <a:pPr algn="l"/>
            <a:r>
              <a:rPr sz="1300" b="0">
                <a:solidFill>
                  <a:srgbClr val="64748B"/>
                </a:solidFill>
                <a:latin typeface="Calibri"/>
              </a:rPr>
              <a:t>Long documents → crisp summaries in seconds.</a:t>
            </a:r>
          </a:p>
        </p:txBody>
      </p:sp>
      <p:sp>
        <p:nvSpPr>
          <p:cNvPr id="15" name="Rounded Rectangle 14"/>
          <p:cNvSpPr/>
          <p:nvPr/>
        </p:nvSpPr>
        <p:spPr>
          <a:xfrm>
            <a:off x="6172200" y="1691640"/>
            <a:ext cx="5486400" cy="2103120"/>
          </a:xfrm>
          <a:prstGeom prst="roundRect">
            <a:avLst>
              <a:gd name="adj" fmla="val 4000"/>
            </a:avLst>
          </a:prstGeom>
          <a:solidFill>
            <a:srgbClr val="FFFFFF"/>
          </a:solidFill>
          <a:ln w="19050">
            <a:solidFill>
              <a:srgbClr val="704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46520" y="2011680"/>
            <a:ext cx="1280160" cy="1280160"/>
          </a:xfrm>
          <a:prstGeom prst="roundRect">
            <a:avLst>
              <a:gd name="adj" fmla="val 20000"/>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011680"/>
            <a:ext cx="1280160" cy="1280160"/>
          </a:xfrm>
          <a:prstGeom prst="rect">
            <a:avLst/>
          </a:prstGeom>
          <a:noFill/>
        </p:spPr>
        <p:txBody>
          <a:bodyPr wrap="square" lIns="45720" rIns="45720" tIns="18288" bIns="18288" anchor="ctr">
            <a:spAutoFit/>
          </a:bodyPr>
          <a:lstStyle/>
          <a:p>
            <a:pPr algn="ctr"/>
            <a:r>
              <a:rPr sz="2800" b="1">
                <a:solidFill>
                  <a:srgbClr val="FFFFFF"/>
                </a:solidFill>
                <a:latin typeface="Calibri"/>
              </a:rPr>
              <a:t>02</a:t>
            </a:r>
          </a:p>
        </p:txBody>
      </p:sp>
      <p:sp>
        <p:nvSpPr>
          <p:cNvPr id="18" name="TextBox 17"/>
          <p:cNvSpPr txBox="1"/>
          <p:nvPr/>
        </p:nvSpPr>
        <p:spPr>
          <a:xfrm>
            <a:off x="7955280" y="2103120"/>
            <a:ext cx="3657600" cy="548640"/>
          </a:xfrm>
          <a:prstGeom prst="rect">
            <a:avLst/>
          </a:prstGeom>
          <a:noFill/>
        </p:spPr>
        <p:txBody>
          <a:bodyPr wrap="square" lIns="45720" rIns="45720" tIns="18288" bIns="18288" anchor="t">
            <a:spAutoFit/>
          </a:bodyPr>
          <a:lstStyle/>
          <a:p>
            <a:pPr algn="l"/>
            <a:r>
              <a:rPr sz="2200" b="1">
                <a:solidFill>
                  <a:srgbClr val="1E1B4B"/>
                </a:solidFill>
                <a:latin typeface="Calibri"/>
              </a:rPr>
              <a:t>Quiz Generator</a:t>
            </a:r>
          </a:p>
        </p:txBody>
      </p:sp>
      <p:sp>
        <p:nvSpPr>
          <p:cNvPr id="19" name="TextBox 18"/>
          <p:cNvSpPr txBox="1"/>
          <p:nvPr/>
        </p:nvSpPr>
        <p:spPr>
          <a:xfrm>
            <a:off x="7955280" y="2697480"/>
            <a:ext cx="3657600" cy="914400"/>
          </a:xfrm>
          <a:prstGeom prst="rect">
            <a:avLst/>
          </a:prstGeom>
          <a:noFill/>
        </p:spPr>
        <p:txBody>
          <a:bodyPr wrap="square" lIns="45720" rIns="45720" tIns="18288" bIns="18288" anchor="t">
            <a:spAutoFit/>
          </a:bodyPr>
          <a:lstStyle/>
          <a:p>
            <a:pPr algn="l"/>
            <a:r>
              <a:rPr sz="1300" b="0">
                <a:solidFill>
                  <a:srgbClr val="64748B"/>
                </a:solidFill>
                <a:latin typeface="Calibri"/>
              </a:rPr>
              <a:t>Auto-generate MCQs from any study material.</a:t>
            </a:r>
          </a:p>
        </p:txBody>
      </p:sp>
      <p:sp>
        <p:nvSpPr>
          <p:cNvPr id="20" name="Rounded Rectangle 19"/>
          <p:cNvSpPr/>
          <p:nvPr/>
        </p:nvSpPr>
        <p:spPr>
          <a:xfrm>
            <a:off x="502920" y="3977639"/>
            <a:ext cx="5486400" cy="2103120"/>
          </a:xfrm>
          <a:prstGeom prst="roundRect">
            <a:avLst>
              <a:gd name="adj" fmla="val 4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7240" y="4297679"/>
            <a:ext cx="1280160" cy="1280160"/>
          </a:xfrm>
          <a:prstGeom prst="roundRect">
            <a:avLst>
              <a:gd name="adj" fmla="val 2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297679"/>
            <a:ext cx="1280160" cy="1280160"/>
          </a:xfrm>
          <a:prstGeom prst="rect">
            <a:avLst/>
          </a:prstGeom>
          <a:noFill/>
        </p:spPr>
        <p:txBody>
          <a:bodyPr wrap="square" lIns="45720" rIns="45720" tIns="18288" bIns="18288" anchor="ctr">
            <a:spAutoFit/>
          </a:bodyPr>
          <a:lstStyle/>
          <a:p>
            <a:pPr algn="ctr"/>
            <a:r>
              <a:rPr sz="2800" b="1">
                <a:solidFill>
                  <a:srgbClr val="FFFFFF"/>
                </a:solidFill>
                <a:latin typeface="Calibri"/>
              </a:rPr>
              <a:t>03</a:t>
            </a:r>
          </a:p>
        </p:txBody>
      </p:sp>
      <p:sp>
        <p:nvSpPr>
          <p:cNvPr id="23" name="TextBox 22"/>
          <p:cNvSpPr txBox="1"/>
          <p:nvPr/>
        </p:nvSpPr>
        <p:spPr>
          <a:xfrm>
            <a:off x="2286000" y="4389119"/>
            <a:ext cx="3657600" cy="548640"/>
          </a:xfrm>
          <a:prstGeom prst="rect">
            <a:avLst/>
          </a:prstGeom>
          <a:noFill/>
        </p:spPr>
        <p:txBody>
          <a:bodyPr wrap="square" lIns="45720" rIns="45720" tIns="18288" bIns="18288" anchor="t">
            <a:spAutoFit/>
          </a:bodyPr>
          <a:lstStyle/>
          <a:p>
            <a:pPr algn="l"/>
            <a:r>
              <a:rPr sz="2200" b="1">
                <a:solidFill>
                  <a:srgbClr val="1E1B4B"/>
                </a:solidFill>
                <a:latin typeface="Calibri"/>
              </a:rPr>
              <a:t>Resume Analyzer</a:t>
            </a:r>
          </a:p>
        </p:txBody>
      </p:sp>
      <p:sp>
        <p:nvSpPr>
          <p:cNvPr id="24" name="TextBox 23"/>
          <p:cNvSpPr txBox="1"/>
          <p:nvPr/>
        </p:nvSpPr>
        <p:spPr>
          <a:xfrm>
            <a:off x="2286000" y="4983479"/>
            <a:ext cx="3657600" cy="914400"/>
          </a:xfrm>
          <a:prstGeom prst="rect">
            <a:avLst/>
          </a:prstGeom>
          <a:noFill/>
        </p:spPr>
        <p:txBody>
          <a:bodyPr wrap="square" lIns="45720" rIns="45720" tIns="18288" bIns="18288" anchor="t">
            <a:spAutoFit/>
          </a:bodyPr>
          <a:lstStyle/>
          <a:p>
            <a:pPr algn="l"/>
            <a:r>
              <a:rPr sz="1300" b="0">
                <a:solidFill>
                  <a:srgbClr val="64748B"/>
                </a:solidFill>
                <a:latin typeface="Calibri"/>
              </a:rPr>
              <a:t>Score, gaps &amp; ATS feedback for any resume.</a:t>
            </a:r>
          </a:p>
        </p:txBody>
      </p:sp>
      <p:sp>
        <p:nvSpPr>
          <p:cNvPr id="25" name="Rounded Rectangle 24"/>
          <p:cNvSpPr/>
          <p:nvPr/>
        </p:nvSpPr>
        <p:spPr>
          <a:xfrm>
            <a:off x="6172200" y="3977639"/>
            <a:ext cx="5486400" cy="2103120"/>
          </a:xfrm>
          <a:prstGeom prst="roundRect">
            <a:avLst>
              <a:gd name="adj" fmla="val 4000"/>
            </a:avLst>
          </a:prstGeom>
          <a:solidFill>
            <a:srgbClr val="FFFFFF"/>
          </a:solidFill>
          <a:ln w="1905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46520" y="4297679"/>
            <a:ext cx="1280160" cy="1280160"/>
          </a:xfrm>
          <a:prstGeom prst="roundRect">
            <a:avLst>
              <a:gd name="adj" fmla="val 2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4297679"/>
            <a:ext cx="1280160" cy="1280160"/>
          </a:xfrm>
          <a:prstGeom prst="rect">
            <a:avLst/>
          </a:prstGeom>
          <a:noFill/>
        </p:spPr>
        <p:txBody>
          <a:bodyPr wrap="square" lIns="45720" rIns="45720" tIns="18288" bIns="18288" anchor="ctr">
            <a:spAutoFit/>
          </a:bodyPr>
          <a:lstStyle/>
          <a:p>
            <a:pPr algn="ctr"/>
            <a:r>
              <a:rPr sz="2800" b="1">
                <a:solidFill>
                  <a:srgbClr val="FFFFFF"/>
                </a:solidFill>
                <a:latin typeface="Calibri"/>
              </a:rPr>
              <a:t>04</a:t>
            </a:r>
          </a:p>
        </p:txBody>
      </p:sp>
      <p:sp>
        <p:nvSpPr>
          <p:cNvPr id="28" name="TextBox 27"/>
          <p:cNvSpPr txBox="1"/>
          <p:nvPr/>
        </p:nvSpPr>
        <p:spPr>
          <a:xfrm>
            <a:off x="7955280" y="4389119"/>
            <a:ext cx="3657600" cy="548640"/>
          </a:xfrm>
          <a:prstGeom prst="rect">
            <a:avLst/>
          </a:prstGeom>
          <a:noFill/>
        </p:spPr>
        <p:txBody>
          <a:bodyPr wrap="square" lIns="45720" rIns="45720" tIns="18288" bIns="18288" anchor="t">
            <a:spAutoFit/>
          </a:bodyPr>
          <a:lstStyle/>
          <a:p>
            <a:pPr algn="l"/>
            <a:r>
              <a:rPr sz="2200" b="1">
                <a:solidFill>
                  <a:srgbClr val="1E1B4B"/>
                </a:solidFill>
                <a:latin typeface="Calibri"/>
              </a:rPr>
              <a:t>Text-to-Image</a:t>
            </a:r>
          </a:p>
        </p:txBody>
      </p:sp>
      <p:sp>
        <p:nvSpPr>
          <p:cNvPr id="29" name="TextBox 28"/>
          <p:cNvSpPr txBox="1"/>
          <p:nvPr/>
        </p:nvSpPr>
        <p:spPr>
          <a:xfrm>
            <a:off x="7955280" y="4983479"/>
            <a:ext cx="3657600" cy="914400"/>
          </a:xfrm>
          <a:prstGeom prst="rect">
            <a:avLst/>
          </a:prstGeom>
          <a:noFill/>
        </p:spPr>
        <p:txBody>
          <a:bodyPr wrap="square" lIns="45720" rIns="45720" tIns="18288" bIns="18288" anchor="t">
            <a:spAutoFit/>
          </a:bodyPr>
          <a:lstStyle/>
          <a:p>
            <a:pPr algn="l"/>
            <a:r>
              <a:rPr sz="1300" b="0">
                <a:solidFill>
                  <a:srgbClr val="64748B"/>
                </a:solidFill>
                <a:latin typeface="Calibri"/>
              </a:rPr>
              <a:t>Visual content from natural-language prompts.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Technology Stack</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Modern, production-grade tools across the stack</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8 / 17</a:t>
            </a:r>
          </a:p>
        </p:txBody>
      </p:sp>
      <p:sp>
        <p:nvSpPr>
          <p:cNvPr id="10" name="Rounded Rectangle 9"/>
          <p:cNvSpPr/>
          <p:nvPr/>
        </p:nvSpPr>
        <p:spPr>
          <a:xfrm>
            <a:off x="502920" y="1645920"/>
            <a:ext cx="2697480" cy="4572000"/>
          </a:xfrm>
          <a:prstGeom prst="roundRect">
            <a:avLst>
              <a:gd name="adj" fmla="val 4000"/>
            </a:avLst>
          </a:prstGeom>
          <a:solidFill>
            <a:srgbClr val="FFFFFF"/>
          </a:solidFill>
          <a:ln w="19050">
            <a:solidFill>
              <a:srgbClr val="3B5B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645920"/>
            <a:ext cx="2697480" cy="64008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645920"/>
            <a:ext cx="2697480" cy="640080"/>
          </a:xfrm>
          <a:prstGeom prst="rect">
            <a:avLst/>
          </a:prstGeom>
          <a:noFill/>
        </p:spPr>
        <p:txBody>
          <a:bodyPr wrap="square" lIns="45720" rIns="45720" tIns="18288" bIns="18288" anchor="ctr">
            <a:spAutoFit/>
          </a:bodyPr>
          <a:lstStyle/>
          <a:p>
            <a:pPr algn="ctr"/>
            <a:r>
              <a:rPr sz="1800" b="1">
                <a:solidFill>
                  <a:srgbClr val="FFFFFF"/>
                </a:solidFill>
                <a:latin typeface="Calibri"/>
              </a:rPr>
              <a:t>Frontend</a:t>
            </a:r>
          </a:p>
        </p:txBody>
      </p:sp>
      <p:sp>
        <p:nvSpPr>
          <p:cNvPr id="13" name="TextBox 12"/>
          <p:cNvSpPr txBox="1"/>
          <p:nvPr/>
        </p:nvSpPr>
        <p:spPr>
          <a:xfrm>
            <a:off x="685800" y="2468880"/>
            <a:ext cx="2377440" cy="3657600"/>
          </a:xfrm>
          <a:prstGeom prst="rect">
            <a:avLst/>
          </a:prstGeom>
          <a:noFill/>
        </p:spPr>
        <p:txBody>
          <a:bodyPr wrap="square">
            <a:spAutoFit/>
          </a:bodyPr>
          <a:lstStyle/>
          <a:p>
            <a:pPr algn="l">
              <a:lnSpc>
                <a:spcPct val="125000"/>
              </a:lnSpc>
              <a:spcAft>
                <a:spcPts val="600"/>
              </a:spcAft>
            </a:pPr>
            <a:r>
              <a:rPr sz="1400" b="1">
                <a:solidFill>
                  <a:srgbClr val="3B5BDB"/>
                </a:solidFill>
                <a:latin typeface="Calibri"/>
              </a:rPr>
              <a:t>▸  </a:t>
            </a:r>
            <a:r>
              <a:rPr sz="1400">
                <a:solidFill>
                  <a:srgbClr val="1E1B4B"/>
                </a:solidFill>
                <a:latin typeface="Calibri"/>
              </a:rPr>
              <a:t>React.js</a:t>
            </a:r>
          </a:p>
          <a:p>
            <a:pPr algn="l">
              <a:lnSpc>
                <a:spcPct val="125000"/>
              </a:lnSpc>
              <a:spcAft>
                <a:spcPts val="600"/>
              </a:spcAft>
            </a:pPr>
            <a:r>
              <a:rPr sz="1400" b="1">
                <a:solidFill>
                  <a:srgbClr val="3B5BDB"/>
                </a:solidFill>
                <a:latin typeface="Calibri"/>
              </a:rPr>
              <a:t>▸  </a:t>
            </a:r>
            <a:r>
              <a:rPr sz="1400">
                <a:solidFill>
                  <a:srgbClr val="1E1B4B"/>
                </a:solidFill>
                <a:latin typeface="Calibri"/>
              </a:rPr>
              <a:t>Tailwind CSS</a:t>
            </a:r>
          </a:p>
          <a:p>
            <a:pPr algn="l">
              <a:lnSpc>
                <a:spcPct val="125000"/>
              </a:lnSpc>
              <a:spcAft>
                <a:spcPts val="600"/>
              </a:spcAft>
            </a:pPr>
            <a:r>
              <a:rPr sz="1400" b="1">
                <a:solidFill>
                  <a:srgbClr val="3B5BDB"/>
                </a:solidFill>
                <a:latin typeface="Calibri"/>
              </a:rPr>
              <a:t>▸  </a:t>
            </a:r>
            <a:r>
              <a:rPr sz="1400">
                <a:solidFill>
                  <a:srgbClr val="1E1B4B"/>
                </a:solidFill>
                <a:latin typeface="Calibri"/>
              </a:rPr>
              <a:t>Axios</a:t>
            </a:r>
          </a:p>
          <a:p>
            <a:pPr algn="l">
              <a:lnSpc>
                <a:spcPct val="125000"/>
              </a:lnSpc>
              <a:spcAft>
                <a:spcPts val="600"/>
              </a:spcAft>
            </a:pPr>
            <a:r>
              <a:rPr sz="1400" b="1">
                <a:solidFill>
                  <a:srgbClr val="3B5BDB"/>
                </a:solidFill>
                <a:latin typeface="Calibri"/>
              </a:rPr>
              <a:t>▸  </a:t>
            </a:r>
            <a:r>
              <a:rPr sz="1400">
                <a:solidFill>
                  <a:srgbClr val="1E1B4B"/>
                </a:solidFill>
                <a:latin typeface="Calibri"/>
              </a:rPr>
              <a:t>Vite</a:t>
            </a:r>
          </a:p>
        </p:txBody>
      </p:sp>
      <p:sp>
        <p:nvSpPr>
          <p:cNvPr id="14" name="Rounded Rectangle 13"/>
          <p:cNvSpPr/>
          <p:nvPr/>
        </p:nvSpPr>
        <p:spPr>
          <a:xfrm>
            <a:off x="3383280" y="1645920"/>
            <a:ext cx="2697480" cy="4572000"/>
          </a:xfrm>
          <a:prstGeom prst="roundRect">
            <a:avLst>
              <a:gd name="adj" fmla="val 4000"/>
            </a:avLst>
          </a:prstGeom>
          <a:solidFill>
            <a:srgbClr val="FFFFFF"/>
          </a:solidFill>
          <a:ln w="19050">
            <a:solidFill>
              <a:srgbClr val="704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1645920"/>
            <a:ext cx="2697480" cy="64008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1645920"/>
            <a:ext cx="2697480" cy="640080"/>
          </a:xfrm>
          <a:prstGeom prst="rect">
            <a:avLst/>
          </a:prstGeom>
          <a:noFill/>
        </p:spPr>
        <p:txBody>
          <a:bodyPr wrap="square" lIns="45720" rIns="45720" tIns="18288" bIns="18288" anchor="ctr">
            <a:spAutoFit/>
          </a:bodyPr>
          <a:lstStyle/>
          <a:p>
            <a:pPr algn="ctr"/>
            <a:r>
              <a:rPr sz="1800" b="1">
                <a:solidFill>
                  <a:srgbClr val="FFFFFF"/>
                </a:solidFill>
                <a:latin typeface="Calibri"/>
              </a:rPr>
              <a:t>Backend</a:t>
            </a:r>
          </a:p>
        </p:txBody>
      </p:sp>
      <p:sp>
        <p:nvSpPr>
          <p:cNvPr id="17" name="TextBox 16"/>
          <p:cNvSpPr txBox="1"/>
          <p:nvPr/>
        </p:nvSpPr>
        <p:spPr>
          <a:xfrm>
            <a:off x="3566160" y="2468880"/>
            <a:ext cx="2377440" cy="3657600"/>
          </a:xfrm>
          <a:prstGeom prst="rect">
            <a:avLst/>
          </a:prstGeom>
          <a:noFill/>
        </p:spPr>
        <p:txBody>
          <a:bodyPr wrap="square">
            <a:spAutoFit/>
          </a:bodyPr>
          <a:lstStyle/>
          <a:p>
            <a:pPr algn="l">
              <a:lnSpc>
                <a:spcPct val="125000"/>
              </a:lnSpc>
              <a:spcAft>
                <a:spcPts val="600"/>
              </a:spcAft>
            </a:pPr>
            <a:r>
              <a:rPr sz="1400" b="1">
                <a:solidFill>
                  <a:srgbClr val="7048E8"/>
                </a:solidFill>
                <a:latin typeface="Calibri"/>
              </a:rPr>
              <a:t>▸  </a:t>
            </a:r>
            <a:r>
              <a:rPr sz="1400">
                <a:solidFill>
                  <a:srgbClr val="1E1B4B"/>
                </a:solidFill>
                <a:latin typeface="Calibri"/>
              </a:rPr>
              <a:t>Flask (Python)</a:t>
            </a:r>
          </a:p>
          <a:p>
            <a:pPr algn="l">
              <a:lnSpc>
                <a:spcPct val="125000"/>
              </a:lnSpc>
              <a:spcAft>
                <a:spcPts val="600"/>
              </a:spcAft>
            </a:pPr>
            <a:r>
              <a:rPr sz="1400" b="1">
                <a:solidFill>
                  <a:srgbClr val="7048E8"/>
                </a:solidFill>
                <a:latin typeface="Calibri"/>
              </a:rPr>
              <a:t>▸  </a:t>
            </a:r>
            <a:r>
              <a:rPr sz="1400">
                <a:solidFill>
                  <a:srgbClr val="1E1B4B"/>
                </a:solidFill>
                <a:latin typeface="Calibri"/>
              </a:rPr>
              <a:t>REST APIs</a:t>
            </a:r>
          </a:p>
          <a:p>
            <a:pPr algn="l">
              <a:lnSpc>
                <a:spcPct val="125000"/>
              </a:lnSpc>
              <a:spcAft>
                <a:spcPts val="600"/>
              </a:spcAft>
            </a:pPr>
            <a:r>
              <a:rPr sz="1400" b="1">
                <a:solidFill>
                  <a:srgbClr val="7048E8"/>
                </a:solidFill>
                <a:latin typeface="Calibri"/>
              </a:rPr>
              <a:t>▸  </a:t>
            </a:r>
            <a:r>
              <a:rPr sz="1400">
                <a:solidFill>
                  <a:srgbClr val="1E1B4B"/>
                </a:solidFill>
                <a:latin typeface="Calibri"/>
              </a:rPr>
              <a:t>JWT Auth</a:t>
            </a:r>
          </a:p>
          <a:p>
            <a:pPr algn="l">
              <a:lnSpc>
                <a:spcPct val="125000"/>
              </a:lnSpc>
              <a:spcAft>
                <a:spcPts val="600"/>
              </a:spcAft>
            </a:pPr>
            <a:r>
              <a:rPr sz="1400" b="1">
                <a:solidFill>
                  <a:srgbClr val="7048E8"/>
                </a:solidFill>
                <a:latin typeface="Calibri"/>
              </a:rPr>
              <a:t>▸  </a:t>
            </a:r>
            <a:r>
              <a:rPr sz="1400">
                <a:solidFill>
                  <a:srgbClr val="1E1B4B"/>
                </a:solidFill>
                <a:latin typeface="Calibri"/>
              </a:rPr>
              <a:t>MongoDB</a:t>
            </a:r>
          </a:p>
        </p:txBody>
      </p:sp>
      <p:sp>
        <p:nvSpPr>
          <p:cNvPr id="18" name="Rounded Rectangle 17"/>
          <p:cNvSpPr/>
          <p:nvPr/>
        </p:nvSpPr>
        <p:spPr>
          <a:xfrm>
            <a:off x="6263640" y="1645920"/>
            <a:ext cx="2697480" cy="4572000"/>
          </a:xfrm>
          <a:prstGeom prst="roundRect">
            <a:avLst>
              <a:gd name="adj" fmla="val 4000"/>
            </a:avLst>
          </a:prstGeom>
          <a:solidFill>
            <a:srgbClr val="FFFFFF"/>
          </a:solidFill>
          <a:ln w="1905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1645920"/>
            <a:ext cx="2697480" cy="64008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645920"/>
            <a:ext cx="2697480" cy="640080"/>
          </a:xfrm>
          <a:prstGeom prst="rect">
            <a:avLst/>
          </a:prstGeom>
          <a:noFill/>
        </p:spPr>
        <p:txBody>
          <a:bodyPr wrap="square" lIns="45720" rIns="45720" tIns="18288" bIns="18288" anchor="ctr">
            <a:spAutoFit/>
          </a:bodyPr>
          <a:lstStyle/>
          <a:p>
            <a:pPr algn="ctr"/>
            <a:r>
              <a:rPr sz="1800" b="1">
                <a:solidFill>
                  <a:srgbClr val="FFFFFF"/>
                </a:solidFill>
                <a:latin typeface="Calibri"/>
              </a:rPr>
              <a:t>AI / ML</a:t>
            </a:r>
          </a:p>
        </p:txBody>
      </p:sp>
      <p:sp>
        <p:nvSpPr>
          <p:cNvPr id="21" name="TextBox 20"/>
          <p:cNvSpPr txBox="1"/>
          <p:nvPr/>
        </p:nvSpPr>
        <p:spPr>
          <a:xfrm>
            <a:off x="6446520" y="2468880"/>
            <a:ext cx="2377440" cy="3657600"/>
          </a:xfrm>
          <a:prstGeom prst="rect">
            <a:avLst/>
          </a:prstGeom>
          <a:noFill/>
        </p:spPr>
        <p:txBody>
          <a:bodyPr wrap="square">
            <a:spAutoFit/>
          </a:bodyPr>
          <a:lstStyle/>
          <a:p>
            <a:pPr algn="l">
              <a:lnSpc>
                <a:spcPct val="125000"/>
              </a:lnSpc>
              <a:spcAft>
                <a:spcPts val="600"/>
              </a:spcAft>
            </a:pPr>
            <a:r>
              <a:rPr sz="1400" b="1">
                <a:solidFill>
                  <a:srgbClr val="F97316"/>
                </a:solidFill>
                <a:latin typeface="Calibri"/>
              </a:rPr>
              <a:t>▸  </a:t>
            </a:r>
            <a:r>
              <a:rPr sz="1400">
                <a:solidFill>
                  <a:srgbClr val="1E1B4B"/>
                </a:solidFill>
                <a:latin typeface="Calibri"/>
              </a:rPr>
              <a:t>PyTorch (SLM)</a:t>
            </a:r>
          </a:p>
          <a:p>
            <a:pPr algn="l">
              <a:lnSpc>
                <a:spcPct val="125000"/>
              </a:lnSpc>
              <a:spcAft>
                <a:spcPts val="600"/>
              </a:spcAft>
            </a:pPr>
            <a:r>
              <a:rPr sz="1400" b="1">
                <a:solidFill>
                  <a:srgbClr val="F97316"/>
                </a:solidFill>
                <a:latin typeface="Calibri"/>
              </a:rPr>
              <a:t>▸  </a:t>
            </a:r>
            <a:r>
              <a:rPr sz="1400">
                <a:solidFill>
                  <a:srgbClr val="1E1B4B"/>
                </a:solidFill>
                <a:latin typeface="Calibri"/>
              </a:rPr>
              <a:t>LangChain</a:t>
            </a:r>
          </a:p>
          <a:p>
            <a:pPr algn="l">
              <a:lnSpc>
                <a:spcPct val="125000"/>
              </a:lnSpc>
              <a:spcAft>
                <a:spcPts val="600"/>
              </a:spcAft>
            </a:pPr>
            <a:r>
              <a:rPr sz="1400" b="1">
                <a:solidFill>
                  <a:srgbClr val="F97316"/>
                </a:solidFill>
                <a:latin typeface="Calibri"/>
              </a:rPr>
              <a:t>▸  </a:t>
            </a:r>
            <a:r>
              <a:rPr sz="1400">
                <a:solidFill>
                  <a:srgbClr val="1E1B4B"/>
                </a:solidFill>
                <a:latin typeface="Calibri"/>
              </a:rPr>
              <a:t>Hugging Face</a:t>
            </a:r>
          </a:p>
        </p:txBody>
      </p:sp>
      <p:sp>
        <p:nvSpPr>
          <p:cNvPr id="22" name="Rounded Rectangle 21"/>
          <p:cNvSpPr/>
          <p:nvPr/>
        </p:nvSpPr>
        <p:spPr>
          <a:xfrm>
            <a:off x="9144000" y="1645920"/>
            <a:ext cx="2697480" cy="4572000"/>
          </a:xfrm>
          <a:prstGeom prst="roundRect">
            <a:avLst>
              <a:gd name="adj" fmla="val 4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4000" y="1645920"/>
            <a:ext cx="2697480"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0" y="1645920"/>
            <a:ext cx="2697480" cy="640080"/>
          </a:xfrm>
          <a:prstGeom prst="rect">
            <a:avLst/>
          </a:prstGeom>
          <a:noFill/>
        </p:spPr>
        <p:txBody>
          <a:bodyPr wrap="square" lIns="45720" rIns="45720" tIns="18288" bIns="18288" anchor="ctr">
            <a:spAutoFit/>
          </a:bodyPr>
          <a:lstStyle/>
          <a:p>
            <a:pPr algn="ctr"/>
            <a:r>
              <a:rPr sz="1800" b="1">
                <a:solidFill>
                  <a:srgbClr val="FFFFFF"/>
                </a:solidFill>
                <a:latin typeface="Calibri"/>
              </a:rPr>
              <a:t>Models</a:t>
            </a:r>
          </a:p>
        </p:txBody>
      </p:sp>
      <p:sp>
        <p:nvSpPr>
          <p:cNvPr id="25" name="TextBox 24"/>
          <p:cNvSpPr txBox="1"/>
          <p:nvPr/>
        </p:nvSpPr>
        <p:spPr>
          <a:xfrm>
            <a:off x="9326880" y="2468880"/>
            <a:ext cx="2377440" cy="3657600"/>
          </a:xfrm>
          <a:prstGeom prst="rect">
            <a:avLst/>
          </a:prstGeom>
          <a:noFill/>
        </p:spPr>
        <p:txBody>
          <a:bodyPr wrap="square">
            <a:spAutoFit/>
          </a:bodyPr>
          <a:lstStyle/>
          <a:p>
            <a:pPr algn="l">
              <a:lnSpc>
                <a:spcPct val="125000"/>
              </a:lnSpc>
              <a:spcAft>
                <a:spcPts val="600"/>
              </a:spcAft>
            </a:pPr>
            <a:r>
              <a:rPr sz="1400" b="1">
                <a:solidFill>
                  <a:srgbClr val="10B981"/>
                </a:solidFill>
                <a:latin typeface="Calibri"/>
              </a:rPr>
              <a:t>▸  </a:t>
            </a:r>
            <a:r>
              <a:rPr sz="1400">
                <a:solidFill>
                  <a:srgbClr val="1E1B4B"/>
                </a:solidFill>
                <a:latin typeface="Calibri"/>
              </a:rPr>
              <a:t>Gemini API</a:t>
            </a:r>
          </a:p>
          <a:p>
            <a:pPr algn="l">
              <a:lnSpc>
                <a:spcPct val="125000"/>
              </a:lnSpc>
              <a:spcAft>
                <a:spcPts val="600"/>
              </a:spcAft>
            </a:pPr>
            <a:r>
              <a:rPr sz="1400" b="1">
                <a:solidFill>
                  <a:srgbClr val="10B981"/>
                </a:solidFill>
                <a:latin typeface="Calibri"/>
              </a:rPr>
              <a:t>▸  </a:t>
            </a:r>
            <a:r>
              <a:rPr sz="1400">
                <a:solidFill>
                  <a:srgbClr val="1E1B4B"/>
                </a:solidFill>
                <a:latin typeface="Calibri"/>
              </a:rPr>
              <a:t>Groq API</a:t>
            </a:r>
          </a:p>
          <a:p>
            <a:pPr algn="l">
              <a:lnSpc>
                <a:spcPct val="125000"/>
              </a:lnSpc>
              <a:spcAft>
                <a:spcPts val="600"/>
              </a:spcAft>
            </a:pPr>
            <a:r>
              <a:rPr sz="1400" b="1">
                <a:solidFill>
                  <a:srgbClr val="10B981"/>
                </a:solidFill>
                <a:latin typeface="Calibri"/>
              </a:rPr>
              <a:t>▸  </a:t>
            </a:r>
            <a:r>
              <a:rPr sz="1400">
                <a:solidFill>
                  <a:srgbClr val="1E1B4B"/>
                </a:solidFill>
                <a:latin typeface="Calibri"/>
              </a:rPr>
              <a:t>Ollama (local)</a:t>
            </a:r>
          </a:p>
          <a:p>
            <a:pPr algn="l">
              <a:lnSpc>
                <a:spcPct val="125000"/>
              </a:lnSpc>
              <a:spcAft>
                <a:spcPts val="600"/>
              </a:spcAft>
            </a:pPr>
            <a:r>
              <a:rPr sz="1400" b="1">
                <a:solidFill>
                  <a:srgbClr val="10B981"/>
                </a:solidFill>
                <a:latin typeface="Calibri"/>
              </a:rPr>
              <a:t>▸  </a:t>
            </a:r>
            <a:r>
              <a:rPr sz="1400">
                <a:solidFill>
                  <a:srgbClr val="1E1B4B"/>
                </a:solidFill>
                <a:latin typeface="Calibri"/>
              </a:rPr>
              <a:t>Image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Working Flow</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How a single user request travels through ElysiumAI</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9 / 17</a:t>
            </a:r>
          </a:p>
        </p:txBody>
      </p:sp>
      <p:pic>
        <p:nvPicPr>
          <p:cNvPr id="10" name="Picture 9" descr="flow.png"/>
          <p:cNvPicPr>
            <a:picLocks noChangeAspect="1"/>
          </p:cNvPicPr>
          <p:nvPr/>
        </p:nvPicPr>
        <p:blipFill>
          <a:blip r:embed="rId2"/>
          <a:stretch>
            <a:fillRect/>
          </a:stretch>
        </p:blipFill>
        <p:spPr>
          <a:xfrm>
            <a:off x="548640" y="1554480"/>
            <a:ext cx="11064240" cy="4507420"/>
          </a:xfrm>
          <a:prstGeom prst="rect">
            <a:avLst/>
          </a:prstGeom>
        </p:spPr>
      </p:pic>
      <p:sp>
        <p:nvSpPr>
          <p:cNvPr id="11" name="TextBox 10"/>
          <p:cNvSpPr txBox="1"/>
          <p:nvPr/>
        </p:nvSpPr>
        <p:spPr>
          <a:xfrm>
            <a:off x="777240" y="4937760"/>
            <a:ext cx="10515600" cy="1554480"/>
          </a:xfrm>
          <a:prstGeom prst="rect">
            <a:avLst/>
          </a:prstGeom>
          <a:noFill/>
        </p:spPr>
        <p:txBody>
          <a:bodyPr wrap="square">
            <a:spAutoFit/>
          </a:bodyPr>
          <a:lstStyle/>
          <a:p>
            <a:pPr algn="l">
              <a:lnSpc>
                <a:spcPct val="125000"/>
              </a:lnSpc>
              <a:spcAft>
                <a:spcPts val="600"/>
              </a:spcAft>
            </a:pPr>
            <a:r>
              <a:rPr sz="1400" b="1">
                <a:solidFill>
                  <a:srgbClr val="7048E8"/>
                </a:solidFill>
                <a:latin typeface="Calibri"/>
              </a:rPr>
              <a:t>▸  </a:t>
            </a:r>
            <a:r>
              <a:rPr sz="1400">
                <a:solidFill>
                  <a:srgbClr val="1E1B4B"/>
                </a:solidFill>
                <a:latin typeface="Calibri"/>
              </a:rPr>
              <a:t>User submits a prompt (text / file / image request)</a:t>
            </a:r>
          </a:p>
          <a:p>
            <a:pPr algn="l">
              <a:lnSpc>
                <a:spcPct val="125000"/>
              </a:lnSpc>
              <a:spcAft>
                <a:spcPts val="600"/>
              </a:spcAft>
            </a:pPr>
            <a:r>
              <a:rPr sz="1400" b="1">
                <a:solidFill>
                  <a:srgbClr val="7048E8"/>
                </a:solidFill>
                <a:latin typeface="Calibri"/>
              </a:rPr>
              <a:t>▸  </a:t>
            </a:r>
            <a:r>
              <a:rPr sz="1400">
                <a:solidFill>
                  <a:srgbClr val="1E1B4B"/>
                </a:solidFill>
                <a:latin typeface="Calibri"/>
              </a:rPr>
              <a:t>Smart router detects intent — summarize, quiz, code, image, etc.</a:t>
            </a:r>
          </a:p>
          <a:p>
            <a:pPr algn="l">
              <a:lnSpc>
                <a:spcPct val="125000"/>
              </a:lnSpc>
              <a:spcAft>
                <a:spcPts val="600"/>
              </a:spcAft>
            </a:pPr>
            <a:r>
              <a:rPr sz="1400" b="1">
                <a:solidFill>
                  <a:srgbClr val="7048E8"/>
                </a:solidFill>
                <a:latin typeface="Calibri"/>
              </a:rPr>
              <a:t>▸  </a:t>
            </a:r>
            <a:r>
              <a:rPr sz="1400">
                <a:solidFill>
                  <a:srgbClr val="1E1B4B"/>
                </a:solidFill>
                <a:latin typeface="Calibri"/>
              </a:rPr>
              <a:t>Router picks the optimal model based on task, privacy &amp; latency</a:t>
            </a:r>
          </a:p>
          <a:p>
            <a:pPr algn="l">
              <a:lnSpc>
                <a:spcPct val="125000"/>
              </a:lnSpc>
              <a:spcAft>
                <a:spcPts val="600"/>
              </a:spcAft>
            </a:pPr>
            <a:r>
              <a:rPr sz="1400" b="1">
                <a:solidFill>
                  <a:srgbClr val="7048E8"/>
                </a:solidFill>
                <a:latin typeface="Calibri"/>
              </a:rPr>
              <a:t>▸  </a:t>
            </a:r>
            <a:r>
              <a:rPr sz="1400">
                <a:solidFill>
                  <a:srgbClr val="1E1B4B"/>
                </a:solidFill>
                <a:latin typeface="Calibri"/>
              </a:rPr>
              <a:t>Response returned to UI; metadata logged for analytics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Innovation &amp; Unique Points</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What makes ElysiumAI different</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10 / 17</a:t>
            </a:r>
          </a:p>
        </p:txBody>
      </p:sp>
      <p:sp>
        <p:nvSpPr>
          <p:cNvPr id="10" name="Rounded Rectangle 9"/>
          <p:cNvSpPr/>
          <p:nvPr/>
        </p:nvSpPr>
        <p:spPr>
          <a:xfrm>
            <a:off x="502920" y="1691640"/>
            <a:ext cx="5486400" cy="2103120"/>
          </a:xfrm>
          <a:prstGeom prst="roundRect">
            <a:avLst>
              <a:gd name="adj" fmla="val 4000"/>
            </a:avLst>
          </a:prstGeom>
          <a:solidFill>
            <a:srgbClr val="FFFFFF"/>
          </a:solidFill>
          <a:ln w="25400">
            <a:solidFill>
              <a:srgbClr val="3B5B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166360" y="1463040"/>
            <a:ext cx="731520" cy="731520"/>
          </a:xfrm>
          <a:prstGeom prst="ellipse">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1463040"/>
            <a:ext cx="731520" cy="731520"/>
          </a:xfrm>
          <a:prstGeom prst="rect">
            <a:avLst/>
          </a:prstGeom>
          <a:noFill/>
        </p:spPr>
        <p:txBody>
          <a:bodyPr wrap="square" lIns="45720" rIns="45720" tIns="18288" bIns="18288" anchor="ctr">
            <a:spAutoFit/>
          </a:bodyPr>
          <a:lstStyle/>
          <a:p>
            <a:pPr algn="ctr"/>
            <a:r>
              <a:rPr sz="1800" b="1">
                <a:solidFill>
                  <a:srgbClr val="FFFFFF"/>
                </a:solidFill>
                <a:latin typeface="Calibri"/>
              </a:rPr>
              <a:t>★</a:t>
            </a:r>
          </a:p>
        </p:txBody>
      </p:sp>
      <p:sp>
        <p:nvSpPr>
          <p:cNvPr id="13" name="TextBox 12"/>
          <p:cNvSpPr txBox="1"/>
          <p:nvPr/>
        </p:nvSpPr>
        <p:spPr>
          <a:xfrm>
            <a:off x="868680" y="2057400"/>
            <a:ext cx="4572000" cy="548640"/>
          </a:xfrm>
          <a:prstGeom prst="rect">
            <a:avLst/>
          </a:prstGeom>
          <a:noFill/>
        </p:spPr>
        <p:txBody>
          <a:bodyPr wrap="square" lIns="45720" rIns="45720" tIns="18288" bIns="18288" anchor="t">
            <a:spAutoFit/>
          </a:bodyPr>
          <a:lstStyle/>
          <a:p>
            <a:pPr algn="l"/>
            <a:r>
              <a:rPr sz="2200" b="1">
                <a:solidFill>
                  <a:srgbClr val="1E1B4B"/>
                </a:solidFill>
                <a:latin typeface="Calibri"/>
              </a:rPr>
              <a:t>Multi-LLM Router</a:t>
            </a:r>
          </a:p>
        </p:txBody>
      </p:sp>
      <p:sp>
        <p:nvSpPr>
          <p:cNvPr id="14" name="TextBox 13"/>
          <p:cNvSpPr txBox="1"/>
          <p:nvPr/>
        </p:nvSpPr>
        <p:spPr>
          <a:xfrm>
            <a:off x="868680" y="2697480"/>
            <a:ext cx="4754880" cy="1097280"/>
          </a:xfrm>
          <a:prstGeom prst="rect">
            <a:avLst/>
          </a:prstGeom>
          <a:noFill/>
        </p:spPr>
        <p:txBody>
          <a:bodyPr wrap="square" lIns="45720" rIns="45720" tIns="18288" bIns="18288" anchor="t">
            <a:spAutoFit/>
          </a:bodyPr>
          <a:lstStyle/>
          <a:p>
            <a:pPr algn="l"/>
            <a:r>
              <a:rPr sz="1400" b="0">
                <a:solidFill>
                  <a:srgbClr val="64748B"/>
                </a:solidFill>
                <a:latin typeface="Calibri"/>
              </a:rPr>
              <a:t>Dynamic per-request routing — not static fallback.</a:t>
            </a:r>
          </a:p>
        </p:txBody>
      </p:sp>
      <p:sp>
        <p:nvSpPr>
          <p:cNvPr id="15" name="Rounded Rectangle 14"/>
          <p:cNvSpPr/>
          <p:nvPr/>
        </p:nvSpPr>
        <p:spPr>
          <a:xfrm>
            <a:off x="6172200" y="1691640"/>
            <a:ext cx="5486400" cy="2103120"/>
          </a:xfrm>
          <a:prstGeom prst="roundRect">
            <a:avLst>
              <a:gd name="adj" fmla="val 4000"/>
            </a:avLst>
          </a:prstGeom>
          <a:solidFill>
            <a:srgbClr val="FFFFFF"/>
          </a:solidFill>
          <a:ln w="25400">
            <a:solidFill>
              <a:srgbClr val="704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835640" y="1463040"/>
            <a:ext cx="731520" cy="731520"/>
          </a:xfrm>
          <a:prstGeom prst="ellipse">
            <a:avLst/>
          </a:prstGeom>
          <a:solidFill>
            <a:srgbClr val="704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835640" y="1463040"/>
            <a:ext cx="731520" cy="731520"/>
          </a:xfrm>
          <a:prstGeom prst="rect">
            <a:avLst/>
          </a:prstGeom>
          <a:noFill/>
        </p:spPr>
        <p:txBody>
          <a:bodyPr wrap="square" lIns="45720" rIns="45720" tIns="18288" bIns="18288" anchor="ctr">
            <a:spAutoFit/>
          </a:bodyPr>
          <a:lstStyle/>
          <a:p>
            <a:pPr algn="ctr"/>
            <a:r>
              <a:rPr sz="1800" b="1">
                <a:solidFill>
                  <a:srgbClr val="FFFFFF"/>
                </a:solidFill>
                <a:latin typeface="Calibri"/>
              </a:rPr>
              <a:t>★</a:t>
            </a:r>
          </a:p>
        </p:txBody>
      </p:sp>
      <p:sp>
        <p:nvSpPr>
          <p:cNvPr id="18" name="TextBox 17"/>
          <p:cNvSpPr txBox="1"/>
          <p:nvPr/>
        </p:nvSpPr>
        <p:spPr>
          <a:xfrm>
            <a:off x="6537960" y="2057400"/>
            <a:ext cx="4572000" cy="548640"/>
          </a:xfrm>
          <a:prstGeom prst="rect">
            <a:avLst/>
          </a:prstGeom>
          <a:noFill/>
        </p:spPr>
        <p:txBody>
          <a:bodyPr wrap="square" lIns="45720" rIns="45720" tIns="18288" bIns="18288" anchor="t">
            <a:spAutoFit/>
          </a:bodyPr>
          <a:lstStyle/>
          <a:p>
            <a:pPr algn="l"/>
            <a:r>
              <a:rPr sz="2200" b="1">
                <a:solidFill>
                  <a:srgbClr val="1E1B4B"/>
                </a:solidFill>
                <a:latin typeface="Calibri"/>
              </a:rPr>
              <a:t>Proprietary SLM</a:t>
            </a:r>
          </a:p>
        </p:txBody>
      </p:sp>
      <p:sp>
        <p:nvSpPr>
          <p:cNvPr id="19" name="TextBox 18"/>
          <p:cNvSpPr txBox="1"/>
          <p:nvPr/>
        </p:nvSpPr>
        <p:spPr>
          <a:xfrm>
            <a:off x="6537960" y="2697480"/>
            <a:ext cx="4754880" cy="1097280"/>
          </a:xfrm>
          <a:prstGeom prst="rect">
            <a:avLst/>
          </a:prstGeom>
          <a:noFill/>
        </p:spPr>
        <p:txBody>
          <a:bodyPr wrap="square" lIns="45720" rIns="45720" tIns="18288" bIns="18288" anchor="t">
            <a:spAutoFit/>
          </a:bodyPr>
          <a:lstStyle/>
          <a:p>
            <a:pPr algn="l"/>
            <a:r>
              <a:rPr sz="1400" b="0">
                <a:solidFill>
                  <a:srgbClr val="64748B"/>
                </a:solidFill>
                <a:latin typeface="Calibri"/>
              </a:rPr>
              <a:t>Custom-trained Small Language Model on domain data.</a:t>
            </a:r>
          </a:p>
        </p:txBody>
      </p:sp>
      <p:sp>
        <p:nvSpPr>
          <p:cNvPr id="20" name="Rounded Rectangle 19"/>
          <p:cNvSpPr/>
          <p:nvPr/>
        </p:nvSpPr>
        <p:spPr>
          <a:xfrm>
            <a:off x="502920" y="3977639"/>
            <a:ext cx="5486400" cy="2103120"/>
          </a:xfrm>
          <a:prstGeom prst="roundRect">
            <a:avLst>
              <a:gd name="adj" fmla="val 4000"/>
            </a:avLst>
          </a:prstGeom>
          <a:solidFill>
            <a:srgbClr val="FFFFFF"/>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166360" y="3749039"/>
            <a:ext cx="731520" cy="7315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66360" y="3749039"/>
            <a:ext cx="731520" cy="731520"/>
          </a:xfrm>
          <a:prstGeom prst="rect">
            <a:avLst/>
          </a:prstGeom>
          <a:noFill/>
        </p:spPr>
        <p:txBody>
          <a:bodyPr wrap="square" lIns="45720" rIns="45720" tIns="18288" bIns="18288" anchor="ctr">
            <a:spAutoFit/>
          </a:bodyPr>
          <a:lstStyle/>
          <a:p>
            <a:pPr algn="ctr"/>
            <a:r>
              <a:rPr sz="1800" b="1">
                <a:solidFill>
                  <a:srgbClr val="FFFFFF"/>
                </a:solidFill>
                <a:latin typeface="Calibri"/>
              </a:rPr>
              <a:t>★</a:t>
            </a:r>
          </a:p>
        </p:txBody>
      </p:sp>
      <p:sp>
        <p:nvSpPr>
          <p:cNvPr id="23" name="TextBox 22"/>
          <p:cNvSpPr txBox="1"/>
          <p:nvPr/>
        </p:nvSpPr>
        <p:spPr>
          <a:xfrm>
            <a:off x="868680" y="4343399"/>
            <a:ext cx="4572000" cy="548640"/>
          </a:xfrm>
          <a:prstGeom prst="rect">
            <a:avLst/>
          </a:prstGeom>
          <a:noFill/>
        </p:spPr>
        <p:txBody>
          <a:bodyPr wrap="square" lIns="45720" rIns="45720" tIns="18288" bIns="18288" anchor="t">
            <a:spAutoFit/>
          </a:bodyPr>
          <a:lstStyle/>
          <a:p>
            <a:pPr algn="l"/>
            <a:r>
              <a:rPr sz="2200" b="1">
                <a:solidFill>
                  <a:srgbClr val="1E1B4B"/>
                </a:solidFill>
                <a:latin typeface="Calibri"/>
              </a:rPr>
              <a:t>Hybrid Inference</a:t>
            </a:r>
          </a:p>
        </p:txBody>
      </p:sp>
      <p:sp>
        <p:nvSpPr>
          <p:cNvPr id="24" name="TextBox 23"/>
          <p:cNvSpPr txBox="1"/>
          <p:nvPr/>
        </p:nvSpPr>
        <p:spPr>
          <a:xfrm>
            <a:off x="868680" y="4983479"/>
            <a:ext cx="4754880" cy="1097280"/>
          </a:xfrm>
          <a:prstGeom prst="rect">
            <a:avLst/>
          </a:prstGeom>
          <a:noFill/>
        </p:spPr>
        <p:txBody>
          <a:bodyPr wrap="square" lIns="45720" rIns="45720" tIns="18288" bIns="18288" anchor="t">
            <a:spAutoFit/>
          </a:bodyPr>
          <a:lstStyle/>
          <a:p>
            <a:pPr algn="l"/>
            <a:r>
              <a:rPr sz="1400" b="0">
                <a:solidFill>
                  <a:srgbClr val="64748B"/>
                </a:solidFill>
                <a:latin typeface="Calibri"/>
              </a:rPr>
              <a:t>Cloud + on-device working in tandem.</a:t>
            </a:r>
          </a:p>
        </p:txBody>
      </p:sp>
      <p:sp>
        <p:nvSpPr>
          <p:cNvPr id="25" name="Rounded Rectangle 24"/>
          <p:cNvSpPr/>
          <p:nvPr/>
        </p:nvSpPr>
        <p:spPr>
          <a:xfrm>
            <a:off x="6172200" y="3977639"/>
            <a:ext cx="5486400" cy="2103120"/>
          </a:xfrm>
          <a:prstGeom prst="roundRect">
            <a:avLst>
              <a:gd name="adj" fmla="val 4000"/>
            </a:avLst>
          </a:prstGeom>
          <a:solidFill>
            <a:srgbClr val="FFFFFF"/>
          </a:solidFill>
          <a:ln w="2540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835640" y="3749039"/>
            <a:ext cx="731520" cy="73152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35640" y="3749039"/>
            <a:ext cx="731520" cy="731520"/>
          </a:xfrm>
          <a:prstGeom prst="rect">
            <a:avLst/>
          </a:prstGeom>
          <a:noFill/>
        </p:spPr>
        <p:txBody>
          <a:bodyPr wrap="square" lIns="45720" rIns="45720" tIns="18288" bIns="18288" anchor="ctr">
            <a:spAutoFit/>
          </a:bodyPr>
          <a:lstStyle/>
          <a:p>
            <a:pPr algn="ctr"/>
            <a:r>
              <a:rPr sz="1800" b="1">
                <a:solidFill>
                  <a:srgbClr val="FFFFFF"/>
                </a:solidFill>
                <a:latin typeface="Calibri"/>
              </a:rPr>
              <a:t>★</a:t>
            </a:r>
          </a:p>
        </p:txBody>
      </p:sp>
      <p:sp>
        <p:nvSpPr>
          <p:cNvPr id="28" name="TextBox 27"/>
          <p:cNvSpPr txBox="1"/>
          <p:nvPr/>
        </p:nvSpPr>
        <p:spPr>
          <a:xfrm>
            <a:off x="6537960" y="4343399"/>
            <a:ext cx="4572000" cy="548640"/>
          </a:xfrm>
          <a:prstGeom prst="rect">
            <a:avLst/>
          </a:prstGeom>
          <a:noFill/>
        </p:spPr>
        <p:txBody>
          <a:bodyPr wrap="square" lIns="45720" rIns="45720" tIns="18288" bIns="18288" anchor="t">
            <a:spAutoFit/>
          </a:bodyPr>
          <a:lstStyle/>
          <a:p>
            <a:pPr algn="l"/>
            <a:r>
              <a:rPr sz="2200" b="1">
                <a:solidFill>
                  <a:srgbClr val="1E1B4B"/>
                </a:solidFill>
                <a:latin typeface="Calibri"/>
              </a:rPr>
              <a:t>25% Faster</a:t>
            </a:r>
          </a:p>
        </p:txBody>
      </p:sp>
      <p:sp>
        <p:nvSpPr>
          <p:cNvPr id="29" name="TextBox 28"/>
          <p:cNvSpPr txBox="1"/>
          <p:nvPr/>
        </p:nvSpPr>
        <p:spPr>
          <a:xfrm>
            <a:off x="6537960" y="4983479"/>
            <a:ext cx="4754880" cy="1097280"/>
          </a:xfrm>
          <a:prstGeom prst="rect">
            <a:avLst/>
          </a:prstGeom>
          <a:noFill/>
        </p:spPr>
        <p:txBody>
          <a:bodyPr wrap="square" lIns="45720" rIns="45720" tIns="18288" bIns="18288" anchor="t">
            <a:spAutoFit/>
          </a:bodyPr>
          <a:lstStyle/>
          <a:p>
            <a:pPr algn="l"/>
            <a:r>
              <a:rPr sz="1400" b="0">
                <a:solidFill>
                  <a:srgbClr val="64748B"/>
                </a:solidFill>
                <a:latin typeface="Calibri"/>
              </a:rPr>
              <a:t>Measured latency reduction vs single-model baseline.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Results &amp; Performance</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Quantified outcomes from internal testing</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11 / 17</a:t>
            </a:r>
          </a:p>
        </p:txBody>
      </p:sp>
      <p:pic>
        <p:nvPicPr>
          <p:cNvPr id="10" name="Picture 9" descr="performance.png"/>
          <p:cNvPicPr>
            <a:picLocks noChangeAspect="1"/>
          </p:cNvPicPr>
          <p:nvPr/>
        </p:nvPicPr>
        <p:blipFill>
          <a:blip r:embed="rId2"/>
          <a:stretch>
            <a:fillRect/>
          </a:stretch>
        </p:blipFill>
        <p:spPr>
          <a:xfrm>
            <a:off x="502920" y="1554480"/>
            <a:ext cx="6858000" cy="3429000"/>
          </a:xfrm>
          <a:prstGeom prst="rect">
            <a:avLst/>
          </a:prstGeom>
        </p:spPr>
      </p:pic>
      <p:sp>
        <p:nvSpPr>
          <p:cNvPr id="11" name="Rounded Rectangle 10"/>
          <p:cNvSpPr/>
          <p:nvPr/>
        </p:nvSpPr>
        <p:spPr>
          <a:xfrm>
            <a:off x="7680960" y="1691640"/>
            <a:ext cx="1920240" cy="1920240"/>
          </a:xfrm>
          <a:prstGeom prst="roundRect">
            <a:avLst>
              <a:gd name="adj" fmla="val 6000"/>
            </a:avLst>
          </a:prstGeom>
          <a:solidFill>
            <a:srgbClr val="FFFFFF"/>
          </a:solidFill>
          <a:ln w="19050">
            <a:solidFill>
              <a:srgbClr val="3B5B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691640"/>
            <a:ext cx="1920240" cy="164592"/>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0" y="2011680"/>
            <a:ext cx="1920240" cy="914400"/>
          </a:xfrm>
          <a:prstGeom prst="rect">
            <a:avLst/>
          </a:prstGeom>
          <a:noFill/>
        </p:spPr>
        <p:txBody>
          <a:bodyPr wrap="square" lIns="45720" rIns="45720" tIns="18288" bIns="18288" anchor="t">
            <a:spAutoFit/>
          </a:bodyPr>
          <a:lstStyle/>
          <a:p>
            <a:pPr algn="ctr"/>
            <a:r>
              <a:rPr sz="3400" b="1">
                <a:solidFill>
                  <a:srgbClr val="3B5BDB"/>
                </a:solidFill>
                <a:latin typeface="Calibri"/>
              </a:rPr>
              <a:t>300+</a:t>
            </a:r>
          </a:p>
        </p:txBody>
      </p:sp>
      <p:sp>
        <p:nvSpPr>
          <p:cNvPr id="14" name="TextBox 13"/>
          <p:cNvSpPr txBox="1"/>
          <p:nvPr/>
        </p:nvSpPr>
        <p:spPr>
          <a:xfrm>
            <a:off x="7680960" y="2926080"/>
            <a:ext cx="1920240" cy="548640"/>
          </a:xfrm>
          <a:prstGeom prst="rect">
            <a:avLst/>
          </a:prstGeom>
          <a:noFill/>
        </p:spPr>
        <p:txBody>
          <a:bodyPr wrap="square" lIns="45720" rIns="45720" tIns="18288" bIns="18288" anchor="t">
            <a:spAutoFit/>
          </a:bodyPr>
          <a:lstStyle/>
          <a:p>
            <a:pPr algn="ctr"/>
            <a:r>
              <a:rPr sz="1200" b="0">
                <a:solidFill>
                  <a:srgbClr val="64748B"/>
                </a:solidFill>
                <a:latin typeface="Calibri"/>
              </a:rPr>
              <a:t>Concurrent Users</a:t>
            </a:r>
          </a:p>
        </p:txBody>
      </p:sp>
      <p:sp>
        <p:nvSpPr>
          <p:cNvPr id="15" name="Rounded Rectangle 14"/>
          <p:cNvSpPr/>
          <p:nvPr/>
        </p:nvSpPr>
        <p:spPr>
          <a:xfrm>
            <a:off x="9738360" y="1691640"/>
            <a:ext cx="1920240" cy="1920240"/>
          </a:xfrm>
          <a:prstGeom prst="roundRect">
            <a:avLst>
              <a:gd name="adj" fmla="val 6000"/>
            </a:avLst>
          </a:prstGeom>
          <a:solidFill>
            <a:srgbClr val="FFFFFF"/>
          </a:solidFill>
          <a:ln w="19050">
            <a:solidFill>
              <a:srgbClr val="704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738360" y="1691640"/>
            <a:ext cx="1920240" cy="164592"/>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8360" y="2011680"/>
            <a:ext cx="1920240" cy="914400"/>
          </a:xfrm>
          <a:prstGeom prst="rect">
            <a:avLst/>
          </a:prstGeom>
          <a:noFill/>
        </p:spPr>
        <p:txBody>
          <a:bodyPr wrap="square" lIns="45720" rIns="45720" tIns="18288" bIns="18288" anchor="t">
            <a:spAutoFit/>
          </a:bodyPr>
          <a:lstStyle/>
          <a:p>
            <a:pPr algn="ctr"/>
            <a:r>
              <a:rPr sz="3400" b="1">
                <a:solidFill>
                  <a:srgbClr val="7048E8"/>
                </a:solidFill>
                <a:latin typeface="Calibri"/>
              </a:rPr>
              <a:t>25%</a:t>
            </a:r>
          </a:p>
        </p:txBody>
      </p:sp>
      <p:sp>
        <p:nvSpPr>
          <p:cNvPr id="18" name="TextBox 17"/>
          <p:cNvSpPr txBox="1"/>
          <p:nvPr/>
        </p:nvSpPr>
        <p:spPr>
          <a:xfrm>
            <a:off x="9738360" y="2926080"/>
            <a:ext cx="1920240" cy="548640"/>
          </a:xfrm>
          <a:prstGeom prst="rect">
            <a:avLst/>
          </a:prstGeom>
          <a:noFill/>
        </p:spPr>
        <p:txBody>
          <a:bodyPr wrap="square" lIns="45720" rIns="45720" tIns="18288" bIns="18288" anchor="t">
            <a:spAutoFit/>
          </a:bodyPr>
          <a:lstStyle/>
          <a:p>
            <a:pPr algn="ctr"/>
            <a:r>
              <a:rPr sz="1200" b="0">
                <a:solidFill>
                  <a:srgbClr val="64748B"/>
                </a:solidFill>
                <a:latin typeface="Calibri"/>
              </a:rPr>
              <a:t>Lower Latency</a:t>
            </a:r>
          </a:p>
        </p:txBody>
      </p:sp>
      <p:sp>
        <p:nvSpPr>
          <p:cNvPr id="19" name="Rounded Rectangle 18"/>
          <p:cNvSpPr/>
          <p:nvPr/>
        </p:nvSpPr>
        <p:spPr>
          <a:xfrm>
            <a:off x="7680960" y="3886200"/>
            <a:ext cx="1920240" cy="1920240"/>
          </a:xfrm>
          <a:prstGeom prst="roundRect">
            <a:avLst>
              <a:gd name="adj" fmla="val 6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0" y="3886200"/>
            <a:ext cx="1920240" cy="164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4206240"/>
            <a:ext cx="1920240" cy="914400"/>
          </a:xfrm>
          <a:prstGeom prst="rect">
            <a:avLst/>
          </a:prstGeom>
          <a:noFill/>
        </p:spPr>
        <p:txBody>
          <a:bodyPr wrap="square" lIns="45720" rIns="45720" tIns="18288" bIns="18288" anchor="t">
            <a:spAutoFit/>
          </a:bodyPr>
          <a:lstStyle/>
          <a:p>
            <a:pPr algn="ctr"/>
            <a:r>
              <a:rPr sz="3400" b="1">
                <a:solidFill>
                  <a:srgbClr val="10B981"/>
                </a:solidFill>
                <a:latin typeface="Calibri"/>
              </a:rPr>
              <a:t>94%</a:t>
            </a:r>
          </a:p>
        </p:txBody>
      </p:sp>
      <p:sp>
        <p:nvSpPr>
          <p:cNvPr id="22" name="TextBox 21"/>
          <p:cNvSpPr txBox="1"/>
          <p:nvPr/>
        </p:nvSpPr>
        <p:spPr>
          <a:xfrm>
            <a:off x="7680960" y="5120640"/>
            <a:ext cx="1920240" cy="548640"/>
          </a:xfrm>
          <a:prstGeom prst="rect">
            <a:avLst/>
          </a:prstGeom>
          <a:noFill/>
        </p:spPr>
        <p:txBody>
          <a:bodyPr wrap="square" lIns="45720" rIns="45720" tIns="18288" bIns="18288" anchor="t">
            <a:spAutoFit/>
          </a:bodyPr>
          <a:lstStyle/>
          <a:p>
            <a:pPr algn="ctr"/>
            <a:r>
              <a:rPr sz="1200" b="0">
                <a:solidFill>
                  <a:srgbClr val="64748B"/>
                </a:solidFill>
                <a:latin typeface="Calibri"/>
              </a:rPr>
              <a:t>Routing Accuracy</a:t>
            </a:r>
          </a:p>
        </p:txBody>
      </p:sp>
      <p:sp>
        <p:nvSpPr>
          <p:cNvPr id="23" name="Rounded Rectangle 22"/>
          <p:cNvSpPr/>
          <p:nvPr/>
        </p:nvSpPr>
        <p:spPr>
          <a:xfrm>
            <a:off x="9738360" y="3886200"/>
            <a:ext cx="1920240" cy="1920240"/>
          </a:xfrm>
          <a:prstGeom prst="roundRect">
            <a:avLst>
              <a:gd name="adj" fmla="val 6000"/>
            </a:avLst>
          </a:prstGeom>
          <a:solidFill>
            <a:srgbClr val="FFFFFF"/>
          </a:solidFill>
          <a:ln w="1905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738360" y="3886200"/>
            <a:ext cx="1920240" cy="1645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38360" y="4206240"/>
            <a:ext cx="1920240" cy="914400"/>
          </a:xfrm>
          <a:prstGeom prst="rect">
            <a:avLst/>
          </a:prstGeom>
          <a:noFill/>
        </p:spPr>
        <p:txBody>
          <a:bodyPr wrap="square" lIns="45720" rIns="45720" tIns="18288" bIns="18288" anchor="t">
            <a:spAutoFit/>
          </a:bodyPr>
          <a:lstStyle/>
          <a:p>
            <a:pPr algn="ctr"/>
            <a:r>
              <a:rPr sz="3400" b="1">
                <a:solidFill>
                  <a:srgbClr val="F97316"/>
                </a:solidFill>
                <a:latin typeface="Calibri"/>
              </a:rPr>
              <a:t>4</a:t>
            </a:r>
          </a:p>
        </p:txBody>
      </p:sp>
      <p:sp>
        <p:nvSpPr>
          <p:cNvPr id="26" name="TextBox 25"/>
          <p:cNvSpPr txBox="1"/>
          <p:nvPr/>
        </p:nvSpPr>
        <p:spPr>
          <a:xfrm>
            <a:off x="9738360" y="5120640"/>
            <a:ext cx="1920240" cy="548640"/>
          </a:xfrm>
          <a:prstGeom prst="rect">
            <a:avLst/>
          </a:prstGeom>
          <a:noFill/>
        </p:spPr>
        <p:txBody>
          <a:bodyPr wrap="square" lIns="45720" rIns="45720" tIns="18288" bIns="18288" anchor="t">
            <a:spAutoFit/>
          </a:bodyPr>
          <a:lstStyle/>
          <a:p>
            <a:pPr algn="ctr"/>
            <a:r>
              <a:rPr sz="1200" b="0">
                <a:solidFill>
                  <a:srgbClr val="64748B"/>
                </a:solidFill>
                <a:latin typeface="Calibri"/>
              </a:rPr>
              <a:t>Modules Live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Comparison with Existing Systems</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How ElysiumAI stacks up vs Poe &amp; Perplexity</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12 / 17</a:t>
            </a:r>
          </a:p>
        </p:txBody>
      </p:sp>
      <p:pic>
        <p:nvPicPr>
          <p:cNvPr id="10" name="Picture 9" descr="comparison.png"/>
          <p:cNvPicPr>
            <a:picLocks noChangeAspect="1"/>
          </p:cNvPicPr>
          <p:nvPr/>
        </p:nvPicPr>
        <p:blipFill>
          <a:blip r:embed="rId2"/>
          <a:stretch>
            <a:fillRect/>
          </a:stretch>
        </p:blipFill>
        <p:spPr>
          <a:xfrm>
            <a:off x="822960" y="1463040"/>
            <a:ext cx="10515600" cy="573334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Limitations</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Honest view of current trade-offs</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13 / 17</a:t>
            </a:r>
          </a:p>
        </p:txBody>
      </p:sp>
      <p:sp>
        <p:nvSpPr>
          <p:cNvPr id="10" name="Rounded Rectangle 9"/>
          <p:cNvSpPr/>
          <p:nvPr/>
        </p:nvSpPr>
        <p:spPr>
          <a:xfrm>
            <a:off x="502920" y="1691640"/>
            <a:ext cx="5486400" cy="2103120"/>
          </a:xfrm>
          <a:prstGeom prst="roundRect">
            <a:avLst>
              <a:gd name="adj" fmla="val 4000"/>
            </a:avLst>
          </a:prstGeom>
          <a:solidFill>
            <a:srgbClr val="FFFFFF"/>
          </a:solidFill>
          <a:ln w="12700">
            <a:solidFill>
              <a:srgbClr val="EEF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691640"/>
            <a:ext cx="164592" cy="21031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057400"/>
            <a:ext cx="4937760" cy="548640"/>
          </a:xfrm>
          <a:prstGeom prst="rect">
            <a:avLst/>
          </a:prstGeom>
          <a:noFill/>
        </p:spPr>
        <p:txBody>
          <a:bodyPr wrap="square" lIns="45720" rIns="45720" tIns="18288" bIns="18288" anchor="t">
            <a:spAutoFit/>
          </a:bodyPr>
          <a:lstStyle/>
          <a:p>
            <a:pPr algn="l"/>
            <a:r>
              <a:rPr sz="2000" b="1">
                <a:solidFill>
                  <a:srgbClr val="1E1B4B"/>
                </a:solidFill>
                <a:latin typeface="Calibri"/>
              </a:rPr>
              <a:t>Hardware Dependency</a:t>
            </a:r>
          </a:p>
        </p:txBody>
      </p:sp>
      <p:sp>
        <p:nvSpPr>
          <p:cNvPr id="13" name="TextBox 12"/>
          <p:cNvSpPr txBox="1"/>
          <p:nvPr/>
        </p:nvSpPr>
        <p:spPr>
          <a:xfrm>
            <a:off x="868680" y="2697480"/>
            <a:ext cx="4937760" cy="1097280"/>
          </a:xfrm>
          <a:prstGeom prst="rect">
            <a:avLst/>
          </a:prstGeom>
          <a:noFill/>
        </p:spPr>
        <p:txBody>
          <a:bodyPr wrap="square" lIns="45720" rIns="45720" tIns="18288" bIns="18288" anchor="t">
            <a:spAutoFit/>
          </a:bodyPr>
          <a:lstStyle/>
          <a:p>
            <a:pPr algn="l"/>
            <a:r>
              <a:rPr sz="1300" b="0">
                <a:solidFill>
                  <a:srgbClr val="64748B"/>
                </a:solidFill>
                <a:latin typeface="Calibri"/>
              </a:rPr>
              <a:t>Local SLM and Ollama require a GPU / decent CPU; low-end devices fall back to cloud.</a:t>
            </a:r>
          </a:p>
        </p:txBody>
      </p:sp>
      <p:sp>
        <p:nvSpPr>
          <p:cNvPr id="14" name="Rounded Rectangle 13"/>
          <p:cNvSpPr/>
          <p:nvPr/>
        </p:nvSpPr>
        <p:spPr>
          <a:xfrm>
            <a:off x="6172200" y="1691640"/>
            <a:ext cx="5486400" cy="2103120"/>
          </a:xfrm>
          <a:prstGeom prst="roundRect">
            <a:avLst>
              <a:gd name="adj" fmla="val 4000"/>
            </a:avLst>
          </a:prstGeom>
          <a:solidFill>
            <a:srgbClr val="FFFFFF"/>
          </a:solidFill>
          <a:ln w="12700">
            <a:solidFill>
              <a:srgbClr val="EEF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691640"/>
            <a:ext cx="164592" cy="210312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2057400"/>
            <a:ext cx="4937760" cy="548640"/>
          </a:xfrm>
          <a:prstGeom prst="rect">
            <a:avLst/>
          </a:prstGeom>
          <a:noFill/>
        </p:spPr>
        <p:txBody>
          <a:bodyPr wrap="square" lIns="45720" rIns="45720" tIns="18288" bIns="18288" anchor="t">
            <a:spAutoFit/>
          </a:bodyPr>
          <a:lstStyle/>
          <a:p>
            <a:pPr algn="l"/>
            <a:r>
              <a:rPr sz="2000" b="1">
                <a:solidFill>
                  <a:srgbClr val="1E1B4B"/>
                </a:solidFill>
                <a:latin typeface="Calibri"/>
              </a:rPr>
              <a:t>Internet for Cloud Models</a:t>
            </a:r>
          </a:p>
        </p:txBody>
      </p:sp>
      <p:sp>
        <p:nvSpPr>
          <p:cNvPr id="17" name="TextBox 16"/>
          <p:cNvSpPr txBox="1"/>
          <p:nvPr/>
        </p:nvSpPr>
        <p:spPr>
          <a:xfrm>
            <a:off x="6537960" y="2697480"/>
            <a:ext cx="4937760" cy="1097280"/>
          </a:xfrm>
          <a:prstGeom prst="rect">
            <a:avLst/>
          </a:prstGeom>
          <a:noFill/>
        </p:spPr>
        <p:txBody>
          <a:bodyPr wrap="square" lIns="45720" rIns="45720" tIns="18288" bIns="18288" anchor="t">
            <a:spAutoFit/>
          </a:bodyPr>
          <a:lstStyle/>
          <a:p>
            <a:pPr algn="l"/>
            <a:r>
              <a:rPr sz="1300" b="0">
                <a:solidFill>
                  <a:srgbClr val="64748B"/>
                </a:solidFill>
                <a:latin typeface="Calibri"/>
              </a:rPr>
              <a:t>Premium reasoning still depends on Gemini / Groq APIs being reachable.</a:t>
            </a:r>
          </a:p>
        </p:txBody>
      </p:sp>
      <p:sp>
        <p:nvSpPr>
          <p:cNvPr id="18" name="Rounded Rectangle 17"/>
          <p:cNvSpPr/>
          <p:nvPr/>
        </p:nvSpPr>
        <p:spPr>
          <a:xfrm>
            <a:off x="502920" y="3977639"/>
            <a:ext cx="5486400" cy="2103120"/>
          </a:xfrm>
          <a:prstGeom prst="roundRect">
            <a:avLst>
              <a:gd name="adj" fmla="val 4000"/>
            </a:avLst>
          </a:prstGeom>
          <a:solidFill>
            <a:srgbClr val="FFFFFF"/>
          </a:solidFill>
          <a:ln w="12700">
            <a:solidFill>
              <a:srgbClr val="EEF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977639"/>
            <a:ext cx="164592" cy="21031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343399"/>
            <a:ext cx="4937760" cy="548640"/>
          </a:xfrm>
          <a:prstGeom prst="rect">
            <a:avLst/>
          </a:prstGeom>
          <a:noFill/>
        </p:spPr>
        <p:txBody>
          <a:bodyPr wrap="square" lIns="45720" rIns="45720" tIns="18288" bIns="18288" anchor="t">
            <a:spAutoFit/>
          </a:bodyPr>
          <a:lstStyle/>
          <a:p>
            <a:pPr algn="l"/>
            <a:r>
              <a:rPr sz="2000" b="1">
                <a:solidFill>
                  <a:srgbClr val="1E1B4B"/>
                </a:solidFill>
                <a:latin typeface="Calibri"/>
              </a:rPr>
              <a:t>Model Coverage</a:t>
            </a:r>
          </a:p>
        </p:txBody>
      </p:sp>
      <p:sp>
        <p:nvSpPr>
          <p:cNvPr id="21" name="TextBox 20"/>
          <p:cNvSpPr txBox="1"/>
          <p:nvPr/>
        </p:nvSpPr>
        <p:spPr>
          <a:xfrm>
            <a:off x="868680" y="4983479"/>
            <a:ext cx="4937760" cy="1097280"/>
          </a:xfrm>
          <a:prstGeom prst="rect">
            <a:avLst/>
          </a:prstGeom>
          <a:noFill/>
        </p:spPr>
        <p:txBody>
          <a:bodyPr wrap="square" lIns="45720" rIns="45720" tIns="18288" bIns="18288" anchor="t">
            <a:spAutoFit/>
          </a:bodyPr>
          <a:lstStyle/>
          <a:p>
            <a:pPr algn="l"/>
            <a:r>
              <a:rPr sz="1300" b="0">
                <a:solidFill>
                  <a:srgbClr val="64748B"/>
                </a:solidFill>
                <a:latin typeface="Calibri"/>
              </a:rPr>
              <a:t>SLM is domain-tuned, not general-purpose; complex reasoning still routed to cloud.</a:t>
            </a:r>
          </a:p>
        </p:txBody>
      </p:sp>
      <p:sp>
        <p:nvSpPr>
          <p:cNvPr id="22" name="Rounded Rectangle 21"/>
          <p:cNvSpPr/>
          <p:nvPr/>
        </p:nvSpPr>
        <p:spPr>
          <a:xfrm>
            <a:off x="6172200" y="3977639"/>
            <a:ext cx="5486400" cy="2103120"/>
          </a:xfrm>
          <a:prstGeom prst="roundRect">
            <a:avLst>
              <a:gd name="adj" fmla="val 4000"/>
            </a:avLst>
          </a:prstGeom>
          <a:solidFill>
            <a:srgbClr val="FFFFFF"/>
          </a:solidFill>
          <a:ln w="12700">
            <a:solidFill>
              <a:srgbClr val="EEF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3977639"/>
            <a:ext cx="164592" cy="2103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4343399"/>
            <a:ext cx="4937760" cy="548640"/>
          </a:xfrm>
          <a:prstGeom prst="rect">
            <a:avLst/>
          </a:prstGeom>
          <a:noFill/>
        </p:spPr>
        <p:txBody>
          <a:bodyPr wrap="square" lIns="45720" rIns="45720" tIns="18288" bIns="18288" anchor="t">
            <a:spAutoFit/>
          </a:bodyPr>
          <a:lstStyle/>
          <a:p>
            <a:pPr algn="l"/>
            <a:r>
              <a:rPr sz="2000" b="1">
                <a:solidFill>
                  <a:srgbClr val="1E1B4B"/>
                </a:solidFill>
                <a:latin typeface="Calibri"/>
              </a:rPr>
              <a:t>Cold-Start Cost</a:t>
            </a:r>
          </a:p>
        </p:txBody>
      </p:sp>
      <p:sp>
        <p:nvSpPr>
          <p:cNvPr id="25" name="TextBox 24"/>
          <p:cNvSpPr txBox="1"/>
          <p:nvPr/>
        </p:nvSpPr>
        <p:spPr>
          <a:xfrm>
            <a:off x="6537960" y="4983479"/>
            <a:ext cx="4937760" cy="1097280"/>
          </a:xfrm>
          <a:prstGeom prst="rect">
            <a:avLst/>
          </a:prstGeom>
          <a:noFill/>
        </p:spPr>
        <p:txBody>
          <a:bodyPr wrap="square" lIns="45720" rIns="45720" tIns="18288" bIns="18288" anchor="t">
            <a:spAutoFit/>
          </a:bodyPr>
          <a:lstStyle/>
          <a:p>
            <a:pPr algn="l"/>
            <a:r>
              <a:rPr sz="1300" b="0">
                <a:solidFill>
                  <a:srgbClr val="64748B"/>
                </a:solidFill>
                <a:latin typeface="Calibri"/>
              </a:rPr>
              <a:t>First local model load takes a few seconds — we mitigate via pre-warming.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Future Scope</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Where we want to take ElysiumAI next</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14 / 17</a:t>
            </a:r>
          </a:p>
        </p:txBody>
      </p:sp>
      <p:sp>
        <p:nvSpPr>
          <p:cNvPr id="10" name="Rectangle 9"/>
          <p:cNvSpPr/>
          <p:nvPr/>
        </p:nvSpPr>
        <p:spPr>
          <a:xfrm>
            <a:off x="731520" y="3200400"/>
            <a:ext cx="10698480" cy="73152"/>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554480" y="3108960"/>
            <a:ext cx="292608" cy="292608"/>
          </a:xfrm>
          <a:prstGeom prst="ellipse">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743200"/>
            <a:ext cx="2743200" cy="365760"/>
          </a:xfrm>
          <a:prstGeom prst="rect">
            <a:avLst/>
          </a:prstGeom>
          <a:noFill/>
        </p:spPr>
        <p:txBody>
          <a:bodyPr wrap="square" lIns="45720" rIns="45720" tIns="18288" bIns="18288" anchor="t">
            <a:spAutoFit/>
          </a:bodyPr>
          <a:lstStyle/>
          <a:p>
            <a:pPr algn="ctr"/>
            <a:r>
              <a:rPr sz="1400" b="1">
                <a:solidFill>
                  <a:srgbClr val="3B5BDB"/>
                </a:solidFill>
                <a:latin typeface="Calibri"/>
              </a:rPr>
              <a:t>Q1</a:t>
            </a:r>
          </a:p>
        </p:txBody>
      </p:sp>
      <p:sp>
        <p:nvSpPr>
          <p:cNvPr id="13" name="Rounded Rectangle 12"/>
          <p:cNvSpPr/>
          <p:nvPr/>
        </p:nvSpPr>
        <p:spPr>
          <a:xfrm>
            <a:off x="914400" y="3611880"/>
            <a:ext cx="2377440" cy="2377440"/>
          </a:xfrm>
          <a:prstGeom prst="roundRect">
            <a:avLst>
              <a:gd name="adj" fmla="val 4000"/>
            </a:avLst>
          </a:prstGeom>
          <a:solidFill>
            <a:srgbClr val="FFFFFF"/>
          </a:solidFill>
          <a:ln w="19050">
            <a:solidFill>
              <a:srgbClr val="3B5B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703320"/>
            <a:ext cx="2194560" cy="548640"/>
          </a:xfrm>
          <a:prstGeom prst="rect">
            <a:avLst/>
          </a:prstGeom>
          <a:noFill/>
        </p:spPr>
        <p:txBody>
          <a:bodyPr wrap="square" lIns="45720" rIns="45720" tIns="18288" bIns="18288" anchor="t">
            <a:spAutoFit/>
          </a:bodyPr>
          <a:lstStyle/>
          <a:p>
            <a:pPr algn="l"/>
            <a:r>
              <a:rPr sz="1600" b="1">
                <a:solidFill>
                  <a:srgbClr val="1E1B4B"/>
                </a:solidFill>
                <a:latin typeface="Calibri"/>
              </a:rPr>
              <a:t>Improved SLM</a:t>
            </a:r>
          </a:p>
        </p:txBody>
      </p:sp>
      <p:sp>
        <p:nvSpPr>
          <p:cNvPr id="15" name="TextBox 14"/>
          <p:cNvSpPr txBox="1"/>
          <p:nvPr/>
        </p:nvSpPr>
        <p:spPr>
          <a:xfrm>
            <a:off x="1005840" y="4297680"/>
            <a:ext cx="2194560" cy="1554480"/>
          </a:xfrm>
          <a:prstGeom prst="rect">
            <a:avLst/>
          </a:prstGeom>
          <a:noFill/>
        </p:spPr>
        <p:txBody>
          <a:bodyPr wrap="square" lIns="45720" rIns="45720" tIns="18288" bIns="18288" anchor="t">
            <a:spAutoFit/>
          </a:bodyPr>
          <a:lstStyle/>
          <a:p>
            <a:pPr algn="l"/>
            <a:r>
              <a:rPr sz="1200" b="0">
                <a:solidFill>
                  <a:srgbClr val="64748B"/>
                </a:solidFill>
                <a:latin typeface="Calibri"/>
              </a:rPr>
              <a:t>Larger context, instruction-tuned.</a:t>
            </a:r>
          </a:p>
        </p:txBody>
      </p:sp>
      <p:sp>
        <p:nvSpPr>
          <p:cNvPr id="16" name="Oval 15"/>
          <p:cNvSpPr/>
          <p:nvPr/>
        </p:nvSpPr>
        <p:spPr>
          <a:xfrm>
            <a:off x="4297680" y="3108960"/>
            <a:ext cx="292608" cy="292608"/>
          </a:xfrm>
          <a:prstGeom prst="ellipse">
            <a:avLst/>
          </a:prstGeom>
          <a:solidFill>
            <a:srgbClr val="704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0" y="2743200"/>
            <a:ext cx="2743200" cy="365760"/>
          </a:xfrm>
          <a:prstGeom prst="rect">
            <a:avLst/>
          </a:prstGeom>
          <a:noFill/>
        </p:spPr>
        <p:txBody>
          <a:bodyPr wrap="square" lIns="45720" rIns="45720" tIns="18288" bIns="18288" anchor="t">
            <a:spAutoFit/>
          </a:bodyPr>
          <a:lstStyle/>
          <a:p>
            <a:pPr algn="ctr"/>
            <a:r>
              <a:rPr sz="1400" b="1">
                <a:solidFill>
                  <a:srgbClr val="7048E8"/>
                </a:solidFill>
                <a:latin typeface="Calibri"/>
              </a:rPr>
              <a:t>Q2</a:t>
            </a:r>
          </a:p>
        </p:txBody>
      </p:sp>
      <p:sp>
        <p:nvSpPr>
          <p:cNvPr id="18" name="Rounded Rectangle 17"/>
          <p:cNvSpPr/>
          <p:nvPr/>
        </p:nvSpPr>
        <p:spPr>
          <a:xfrm>
            <a:off x="3657600" y="3611880"/>
            <a:ext cx="2377440" cy="2377440"/>
          </a:xfrm>
          <a:prstGeom prst="roundRect">
            <a:avLst>
              <a:gd name="adj" fmla="val 4000"/>
            </a:avLst>
          </a:prstGeom>
          <a:solidFill>
            <a:srgbClr val="FFFFFF"/>
          </a:solidFill>
          <a:ln w="19050">
            <a:solidFill>
              <a:srgbClr val="704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49040" y="3703320"/>
            <a:ext cx="2194560" cy="548640"/>
          </a:xfrm>
          <a:prstGeom prst="rect">
            <a:avLst/>
          </a:prstGeom>
          <a:noFill/>
        </p:spPr>
        <p:txBody>
          <a:bodyPr wrap="square" lIns="45720" rIns="45720" tIns="18288" bIns="18288" anchor="t">
            <a:spAutoFit/>
          </a:bodyPr>
          <a:lstStyle/>
          <a:p>
            <a:pPr algn="l"/>
            <a:r>
              <a:rPr sz="1600" b="1">
                <a:solidFill>
                  <a:srgbClr val="1E1B4B"/>
                </a:solidFill>
                <a:latin typeface="Calibri"/>
              </a:rPr>
              <a:t>Multi-Modal</a:t>
            </a:r>
          </a:p>
        </p:txBody>
      </p:sp>
      <p:sp>
        <p:nvSpPr>
          <p:cNvPr id="20" name="TextBox 19"/>
          <p:cNvSpPr txBox="1"/>
          <p:nvPr/>
        </p:nvSpPr>
        <p:spPr>
          <a:xfrm>
            <a:off x="3749040" y="4297680"/>
            <a:ext cx="2194560" cy="1554480"/>
          </a:xfrm>
          <a:prstGeom prst="rect">
            <a:avLst/>
          </a:prstGeom>
          <a:noFill/>
        </p:spPr>
        <p:txBody>
          <a:bodyPr wrap="square" lIns="45720" rIns="45720" tIns="18288" bIns="18288" anchor="t">
            <a:spAutoFit/>
          </a:bodyPr>
          <a:lstStyle/>
          <a:p>
            <a:pPr algn="l"/>
            <a:r>
              <a:rPr sz="1200" b="0">
                <a:solidFill>
                  <a:srgbClr val="64748B"/>
                </a:solidFill>
                <a:latin typeface="Calibri"/>
              </a:rPr>
              <a:t>Audio, video &amp; image understanding.</a:t>
            </a:r>
          </a:p>
        </p:txBody>
      </p:sp>
      <p:sp>
        <p:nvSpPr>
          <p:cNvPr id="21" name="Oval 20"/>
          <p:cNvSpPr/>
          <p:nvPr/>
        </p:nvSpPr>
        <p:spPr>
          <a:xfrm>
            <a:off x="7040880" y="3108960"/>
            <a:ext cx="292608" cy="29260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2743200"/>
            <a:ext cx="2743200" cy="365760"/>
          </a:xfrm>
          <a:prstGeom prst="rect">
            <a:avLst/>
          </a:prstGeom>
          <a:noFill/>
        </p:spPr>
        <p:txBody>
          <a:bodyPr wrap="square" lIns="45720" rIns="45720" tIns="18288" bIns="18288" anchor="t">
            <a:spAutoFit/>
          </a:bodyPr>
          <a:lstStyle/>
          <a:p>
            <a:pPr algn="ctr"/>
            <a:r>
              <a:rPr sz="1400" b="1">
                <a:solidFill>
                  <a:srgbClr val="10B981"/>
                </a:solidFill>
                <a:latin typeface="Calibri"/>
              </a:rPr>
              <a:t>Q3</a:t>
            </a:r>
          </a:p>
        </p:txBody>
      </p:sp>
      <p:sp>
        <p:nvSpPr>
          <p:cNvPr id="23" name="Rounded Rectangle 22"/>
          <p:cNvSpPr/>
          <p:nvPr/>
        </p:nvSpPr>
        <p:spPr>
          <a:xfrm>
            <a:off x="6400800" y="3611880"/>
            <a:ext cx="2377440" cy="2377440"/>
          </a:xfrm>
          <a:prstGeom prst="roundRect">
            <a:avLst>
              <a:gd name="adj" fmla="val 4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3703320"/>
            <a:ext cx="2194560" cy="548640"/>
          </a:xfrm>
          <a:prstGeom prst="rect">
            <a:avLst/>
          </a:prstGeom>
          <a:noFill/>
        </p:spPr>
        <p:txBody>
          <a:bodyPr wrap="square" lIns="45720" rIns="45720" tIns="18288" bIns="18288" anchor="t">
            <a:spAutoFit/>
          </a:bodyPr>
          <a:lstStyle/>
          <a:p>
            <a:pPr algn="l"/>
            <a:r>
              <a:rPr sz="1600" b="1">
                <a:solidFill>
                  <a:srgbClr val="1E1B4B"/>
                </a:solidFill>
                <a:latin typeface="Calibri"/>
              </a:rPr>
              <a:t>Mobile App</a:t>
            </a:r>
          </a:p>
        </p:txBody>
      </p:sp>
      <p:sp>
        <p:nvSpPr>
          <p:cNvPr id="25" name="TextBox 24"/>
          <p:cNvSpPr txBox="1"/>
          <p:nvPr/>
        </p:nvSpPr>
        <p:spPr>
          <a:xfrm>
            <a:off x="6492240" y="4297680"/>
            <a:ext cx="2194560" cy="1554480"/>
          </a:xfrm>
          <a:prstGeom prst="rect">
            <a:avLst/>
          </a:prstGeom>
          <a:noFill/>
        </p:spPr>
        <p:txBody>
          <a:bodyPr wrap="square" lIns="45720" rIns="45720" tIns="18288" bIns="18288" anchor="t">
            <a:spAutoFit/>
          </a:bodyPr>
          <a:lstStyle/>
          <a:p>
            <a:pPr algn="l"/>
            <a:r>
              <a:rPr sz="1200" b="0">
                <a:solidFill>
                  <a:srgbClr val="64748B"/>
                </a:solidFill>
                <a:latin typeface="Calibri"/>
              </a:rPr>
              <a:t>Android / iOS clients with offline AI.</a:t>
            </a:r>
          </a:p>
        </p:txBody>
      </p:sp>
      <p:sp>
        <p:nvSpPr>
          <p:cNvPr id="26" name="Oval 25"/>
          <p:cNvSpPr/>
          <p:nvPr/>
        </p:nvSpPr>
        <p:spPr>
          <a:xfrm>
            <a:off x="9784080" y="3108960"/>
            <a:ext cx="292608" cy="292608"/>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0" y="2743200"/>
            <a:ext cx="2743200" cy="365760"/>
          </a:xfrm>
          <a:prstGeom prst="rect">
            <a:avLst/>
          </a:prstGeom>
          <a:noFill/>
        </p:spPr>
        <p:txBody>
          <a:bodyPr wrap="square" lIns="45720" rIns="45720" tIns="18288" bIns="18288" anchor="t">
            <a:spAutoFit/>
          </a:bodyPr>
          <a:lstStyle/>
          <a:p>
            <a:pPr algn="ctr"/>
            <a:r>
              <a:rPr sz="1400" b="1">
                <a:solidFill>
                  <a:srgbClr val="F97316"/>
                </a:solidFill>
                <a:latin typeface="Calibri"/>
              </a:rPr>
              <a:t>Q4</a:t>
            </a:r>
          </a:p>
        </p:txBody>
      </p:sp>
      <p:sp>
        <p:nvSpPr>
          <p:cNvPr id="28" name="Rounded Rectangle 27"/>
          <p:cNvSpPr/>
          <p:nvPr/>
        </p:nvSpPr>
        <p:spPr>
          <a:xfrm>
            <a:off x="9144000" y="3611880"/>
            <a:ext cx="2377440" cy="2377440"/>
          </a:xfrm>
          <a:prstGeom prst="roundRect">
            <a:avLst>
              <a:gd name="adj" fmla="val 4000"/>
            </a:avLst>
          </a:prstGeom>
          <a:solidFill>
            <a:srgbClr val="FFFFFF"/>
          </a:solidFill>
          <a:ln w="1905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0" y="3703320"/>
            <a:ext cx="2194560" cy="548640"/>
          </a:xfrm>
          <a:prstGeom prst="rect">
            <a:avLst/>
          </a:prstGeom>
          <a:noFill/>
        </p:spPr>
        <p:txBody>
          <a:bodyPr wrap="square" lIns="45720" rIns="45720" tIns="18288" bIns="18288" anchor="t">
            <a:spAutoFit/>
          </a:bodyPr>
          <a:lstStyle/>
          <a:p>
            <a:pPr algn="l"/>
            <a:r>
              <a:rPr sz="1600" b="1">
                <a:solidFill>
                  <a:srgbClr val="1E1B4B"/>
                </a:solidFill>
                <a:latin typeface="Calibri"/>
              </a:rPr>
              <a:t>Enterprise Tier</a:t>
            </a:r>
          </a:p>
        </p:txBody>
      </p:sp>
      <p:sp>
        <p:nvSpPr>
          <p:cNvPr id="30" name="TextBox 29"/>
          <p:cNvSpPr txBox="1"/>
          <p:nvPr/>
        </p:nvSpPr>
        <p:spPr>
          <a:xfrm>
            <a:off x="9235440" y="4297680"/>
            <a:ext cx="2194560" cy="1554480"/>
          </a:xfrm>
          <a:prstGeom prst="rect">
            <a:avLst/>
          </a:prstGeom>
          <a:noFill/>
        </p:spPr>
        <p:txBody>
          <a:bodyPr wrap="square" lIns="45720" rIns="45720" tIns="18288" bIns="18288" anchor="t">
            <a:spAutoFit/>
          </a:bodyPr>
          <a:lstStyle/>
          <a:p>
            <a:pPr algn="l"/>
            <a:r>
              <a:rPr sz="1200" b="0">
                <a:solidFill>
                  <a:srgbClr val="64748B"/>
                </a:solidFill>
                <a:latin typeface="Calibri"/>
              </a:rPr>
              <a:t>Team workspaces, SSO, on-prem deploy.</a:t>
            </a:r>
          </a:p>
        </p:txBody>
      </p:sp>
      <p:sp>
        <p:nvSpPr>
          <p:cNvPr id="31" name="TextBox 30"/>
          <p:cNvSpPr txBox="1"/>
          <p:nvPr/>
        </p:nvSpPr>
        <p:spPr>
          <a:xfrm>
            <a:off x="502920" y="1691640"/>
            <a:ext cx="10972800" cy="457200"/>
          </a:xfrm>
          <a:prstGeom prst="rect">
            <a:avLst/>
          </a:prstGeom>
          <a:noFill/>
        </p:spPr>
        <p:txBody>
          <a:bodyPr wrap="square" lIns="45720" rIns="45720" tIns="18288" bIns="18288" anchor="t">
            <a:spAutoFit/>
          </a:bodyPr>
          <a:lstStyle/>
          <a:p>
            <a:pPr algn="l"/>
            <a:r>
              <a:rPr sz="1500" b="0">
                <a:solidFill>
                  <a:srgbClr val="64748B"/>
                </a:solidFill>
                <a:latin typeface="Calibri"/>
              </a:rPr>
              <a:t>12-month roadmap to evolve from college project → enterprise platform.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Conclusion</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Summary of impact and real-world usability</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15 / 17</a:t>
            </a:r>
          </a:p>
        </p:txBody>
      </p:sp>
      <p:sp>
        <p:nvSpPr>
          <p:cNvPr id="10" name="Rounded Rectangle 9"/>
          <p:cNvSpPr/>
          <p:nvPr/>
        </p:nvSpPr>
        <p:spPr>
          <a:xfrm>
            <a:off x="502920" y="1691640"/>
            <a:ext cx="6766560" cy="4572000"/>
          </a:xfrm>
          <a:prstGeom prst="roundRect">
            <a:avLst>
              <a:gd name="adj" fmla="val 4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828800"/>
            <a:ext cx="6400800" cy="457200"/>
          </a:xfrm>
          <a:prstGeom prst="rect">
            <a:avLst/>
          </a:prstGeom>
          <a:noFill/>
        </p:spPr>
        <p:txBody>
          <a:bodyPr wrap="square" lIns="45720" rIns="45720" tIns="18288" bIns="18288" anchor="t">
            <a:spAutoFit/>
          </a:bodyPr>
          <a:lstStyle/>
          <a:p>
            <a:pPr algn="l"/>
            <a:r>
              <a:rPr sz="1400" b="1">
                <a:solidFill>
                  <a:srgbClr val="7048E8"/>
                </a:solidFill>
                <a:latin typeface="Calibri"/>
              </a:rPr>
              <a:t>WHY ElysiumAI MATTERS</a:t>
            </a:r>
          </a:p>
        </p:txBody>
      </p:sp>
      <p:sp>
        <p:nvSpPr>
          <p:cNvPr id="12" name="TextBox 11"/>
          <p:cNvSpPr txBox="1"/>
          <p:nvPr/>
        </p:nvSpPr>
        <p:spPr>
          <a:xfrm>
            <a:off x="777240" y="2331720"/>
            <a:ext cx="6400800" cy="3931920"/>
          </a:xfrm>
          <a:prstGeom prst="rect">
            <a:avLst/>
          </a:prstGeom>
          <a:noFill/>
        </p:spPr>
        <p:txBody>
          <a:bodyPr wrap="square">
            <a:spAutoFit/>
          </a:bodyPr>
          <a:lstStyle/>
          <a:p>
            <a:pPr algn="l">
              <a:lnSpc>
                <a:spcPct val="125000"/>
              </a:lnSpc>
              <a:spcAft>
                <a:spcPts val="600"/>
              </a:spcAft>
            </a:pPr>
            <a:r>
              <a:rPr sz="1500" b="1">
                <a:solidFill>
                  <a:srgbClr val="7048E8"/>
                </a:solidFill>
                <a:latin typeface="Calibri"/>
              </a:rPr>
              <a:t>▸  </a:t>
            </a:r>
            <a:r>
              <a:rPr sz="1500">
                <a:solidFill>
                  <a:srgbClr val="1E1B4B"/>
                </a:solidFill>
                <a:latin typeface="Calibri"/>
              </a:rPr>
              <a:t>Solves a real, daily pain — fragmented AI tooling</a:t>
            </a:r>
          </a:p>
          <a:p>
            <a:pPr algn="l">
              <a:lnSpc>
                <a:spcPct val="125000"/>
              </a:lnSpc>
              <a:spcAft>
                <a:spcPts val="600"/>
              </a:spcAft>
            </a:pPr>
            <a:r>
              <a:rPr sz="1500" b="1">
                <a:solidFill>
                  <a:srgbClr val="7048E8"/>
                </a:solidFill>
                <a:latin typeface="Calibri"/>
              </a:rPr>
              <a:t>▸  </a:t>
            </a:r>
            <a:r>
              <a:rPr sz="1500">
                <a:solidFill>
                  <a:srgbClr val="1E1B4B"/>
                </a:solidFill>
                <a:latin typeface="Calibri"/>
              </a:rPr>
              <a:t>Faster, cheaper and more private than single-model alternatives</a:t>
            </a:r>
          </a:p>
          <a:p>
            <a:pPr algn="l">
              <a:lnSpc>
                <a:spcPct val="125000"/>
              </a:lnSpc>
              <a:spcAft>
                <a:spcPts val="600"/>
              </a:spcAft>
            </a:pPr>
            <a:r>
              <a:rPr sz="1500" b="1">
                <a:solidFill>
                  <a:srgbClr val="7048E8"/>
                </a:solidFill>
                <a:latin typeface="Calibri"/>
              </a:rPr>
              <a:t>▸  </a:t>
            </a:r>
            <a:r>
              <a:rPr sz="1500">
                <a:solidFill>
                  <a:srgbClr val="1E1B4B"/>
                </a:solidFill>
                <a:latin typeface="Calibri"/>
              </a:rPr>
              <a:t>Production-grade architecture, not a proof of concept</a:t>
            </a:r>
          </a:p>
          <a:p>
            <a:pPr algn="l">
              <a:lnSpc>
                <a:spcPct val="125000"/>
              </a:lnSpc>
              <a:spcAft>
                <a:spcPts val="600"/>
              </a:spcAft>
            </a:pPr>
            <a:r>
              <a:rPr sz="1500" b="1">
                <a:solidFill>
                  <a:srgbClr val="7048E8"/>
                </a:solidFill>
                <a:latin typeface="Calibri"/>
              </a:rPr>
              <a:t>▸  </a:t>
            </a:r>
            <a:r>
              <a:rPr sz="1500">
                <a:solidFill>
                  <a:srgbClr val="1E1B4B"/>
                </a:solidFill>
                <a:latin typeface="Calibri"/>
              </a:rPr>
              <a:t>Directly usable by students, educators and small teams</a:t>
            </a:r>
          </a:p>
          <a:p>
            <a:pPr algn="l">
              <a:lnSpc>
                <a:spcPct val="125000"/>
              </a:lnSpc>
              <a:spcAft>
                <a:spcPts val="600"/>
              </a:spcAft>
            </a:pPr>
            <a:r>
              <a:rPr sz="1500" b="1">
                <a:solidFill>
                  <a:srgbClr val="7048E8"/>
                </a:solidFill>
                <a:latin typeface="Calibri"/>
              </a:rPr>
              <a:t>▸  </a:t>
            </a:r>
            <a:r>
              <a:rPr sz="1500">
                <a:solidFill>
                  <a:srgbClr val="1E1B4B"/>
                </a:solidFill>
                <a:latin typeface="Calibri"/>
              </a:rPr>
              <a:t>Foundation for further research in efficient inference</a:t>
            </a:r>
          </a:p>
        </p:txBody>
      </p:sp>
      <p:sp>
        <p:nvSpPr>
          <p:cNvPr id="13" name="Rounded Rectangle 12"/>
          <p:cNvSpPr/>
          <p:nvPr/>
        </p:nvSpPr>
        <p:spPr>
          <a:xfrm>
            <a:off x="7543800" y="1691640"/>
            <a:ext cx="4160520" cy="4572000"/>
          </a:xfrm>
          <a:prstGeom prst="roundRect">
            <a:avLst>
              <a:gd name="adj" fmla="val 4000"/>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920240"/>
            <a:ext cx="3657600" cy="457200"/>
          </a:xfrm>
          <a:prstGeom prst="rect">
            <a:avLst/>
          </a:prstGeom>
          <a:noFill/>
        </p:spPr>
        <p:txBody>
          <a:bodyPr wrap="square" lIns="45720" rIns="45720" tIns="18288" bIns="18288" anchor="t">
            <a:spAutoFit/>
          </a:bodyPr>
          <a:lstStyle/>
          <a:p>
            <a:pPr algn="l"/>
            <a:r>
              <a:rPr sz="1200" b="1">
                <a:solidFill>
                  <a:srgbClr val="EEF2FF"/>
                </a:solidFill>
                <a:latin typeface="Calibri"/>
              </a:rPr>
              <a:t>IMPACT IN ONE LINE</a:t>
            </a:r>
          </a:p>
        </p:txBody>
      </p:sp>
      <p:sp>
        <p:nvSpPr>
          <p:cNvPr id="15" name="TextBox 14"/>
          <p:cNvSpPr txBox="1"/>
          <p:nvPr/>
        </p:nvSpPr>
        <p:spPr>
          <a:xfrm>
            <a:off x="7772400" y="2468880"/>
            <a:ext cx="3657600" cy="2286000"/>
          </a:xfrm>
          <a:prstGeom prst="rect">
            <a:avLst/>
          </a:prstGeom>
          <a:noFill/>
        </p:spPr>
        <p:txBody>
          <a:bodyPr wrap="square" lIns="45720" rIns="45720" tIns="18288" bIns="18288" anchor="t">
            <a:spAutoFit/>
          </a:bodyPr>
          <a:lstStyle/>
          <a:p>
            <a:pPr algn="l"/>
            <a:r>
              <a:rPr sz="2200" b="1">
                <a:solidFill>
                  <a:srgbClr val="FFFFFF"/>
                </a:solidFill>
                <a:latin typeface="Calibri"/>
              </a:rPr>
              <a:t>Unified, fast and</a:t>
            </a:r>
          </a:p>
          <a:p>
            <a:pPr algn="l"/>
            <a:r>
              <a:rPr sz="2200" b="1">
                <a:solidFill>
                  <a:srgbClr val="FFFFFF"/>
                </a:solidFill>
                <a:latin typeface="Calibri"/>
              </a:rPr>
              <a:t>private Generative AI</a:t>
            </a:r>
          </a:p>
          <a:p>
            <a:pPr algn="l"/>
            <a:r>
              <a:rPr sz="2200" b="1">
                <a:solidFill>
                  <a:srgbClr val="FFFFFF"/>
                </a:solidFill>
                <a:latin typeface="Calibri"/>
              </a:rPr>
              <a:t>— for everyone.</a:t>
            </a:r>
          </a:p>
        </p:txBody>
      </p:sp>
      <p:sp>
        <p:nvSpPr>
          <p:cNvPr id="16" name="Rectangle 15"/>
          <p:cNvSpPr/>
          <p:nvPr/>
        </p:nvSpPr>
        <p:spPr>
          <a:xfrm>
            <a:off x="7772400" y="4572000"/>
            <a:ext cx="2286000" cy="54864"/>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4709160"/>
            <a:ext cx="3657600" cy="365760"/>
          </a:xfrm>
          <a:prstGeom prst="rect">
            <a:avLst/>
          </a:prstGeom>
          <a:noFill/>
        </p:spPr>
        <p:txBody>
          <a:bodyPr wrap="square" lIns="45720" rIns="45720" tIns="18288" bIns="18288" anchor="t">
            <a:spAutoFit/>
          </a:bodyPr>
          <a:lstStyle/>
          <a:p>
            <a:pPr algn="l"/>
            <a:r>
              <a:rPr sz="1200" b="0">
                <a:solidFill>
                  <a:srgbClr val="EEF2FF"/>
                </a:solidFill>
                <a:latin typeface="Calibri"/>
              </a:rPr>
              <a:t>Built at PSIT  •  2025-26</a:t>
            </a:r>
          </a:p>
        </p:txBody>
      </p:sp>
      <p:sp>
        <p:nvSpPr>
          <p:cNvPr id="18" name="TextBox 17"/>
          <p:cNvSpPr txBox="1"/>
          <p:nvPr/>
        </p:nvSpPr>
        <p:spPr>
          <a:xfrm>
            <a:off x="7772400" y="5120640"/>
            <a:ext cx="3657600" cy="914400"/>
          </a:xfrm>
          <a:prstGeom prst="rect">
            <a:avLst/>
          </a:prstGeom>
          <a:noFill/>
        </p:spPr>
        <p:txBody>
          <a:bodyPr wrap="square" lIns="45720" rIns="45720" tIns="18288" bIns="18288" anchor="t">
            <a:spAutoFit/>
          </a:bodyPr>
          <a:lstStyle/>
          <a:p>
            <a:pPr algn="l"/>
            <a:r>
              <a:rPr sz="1400" b="1">
                <a:solidFill>
                  <a:srgbClr val="FFFFFF"/>
                </a:solidFill>
                <a:latin typeface="Calibri"/>
              </a:rPr>
              <a:t>Ready for placements,</a:t>
            </a:r>
          </a:p>
          <a:p>
            <a:pPr algn="l"/>
            <a:r>
              <a:rPr sz="1400" b="1">
                <a:solidFill>
                  <a:srgbClr val="FFFFFF"/>
                </a:solidFill>
                <a:latin typeface="Calibri"/>
              </a:rPr>
              <a:t>research &amp; real users.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 y="0"/>
            <a:ext cx="12027103" cy="4572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10515600" cy="640080"/>
          </a:xfrm>
          <a:prstGeom prst="rect">
            <a:avLst/>
          </a:prstGeom>
          <a:noFill/>
        </p:spPr>
        <p:txBody>
          <a:bodyPr wrap="square" lIns="45720" rIns="45720" tIns="18288" bIns="18288" anchor="t">
            <a:spAutoFit/>
          </a:bodyPr>
          <a:lstStyle/>
          <a:p>
            <a:pPr algn="l"/>
            <a:r>
              <a:rPr sz="3000" b="1">
                <a:solidFill>
                  <a:srgbClr val="1E1B4B"/>
                </a:solidFill>
                <a:latin typeface="Calibri"/>
              </a:rPr>
              <a:t>Live Demo</a:t>
            </a:r>
          </a:p>
        </p:txBody>
      </p:sp>
      <p:sp>
        <p:nvSpPr>
          <p:cNvPr id="6" name="Rectangle 5"/>
          <p:cNvSpPr/>
          <p:nvPr/>
        </p:nvSpPr>
        <p:spPr>
          <a:xfrm>
            <a:off x="548640" y="1005840"/>
            <a:ext cx="548640" cy="54864"/>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97280"/>
            <a:ext cx="10515600" cy="365760"/>
          </a:xfrm>
          <a:prstGeom prst="rect">
            <a:avLst/>
          </a:prstGeom>
          <a:noFill/>
        </p:spPr>
        <p:txBody>
          <a:bodyPr wrap="square" lIns="45720" rIns="45720" tIns="18288" bIns="18288" anchor="t">
            <a:spAutoFit/>
          </a:bodyPr>
          <a:lstStyle/>
          <a:p>
            <a:pPr algn="l"/>
            <a:r>
              <a:rPr sz="1400" b="0">
                <a:solidFill>
                  <a:srgbClr val="64748B"/>
                </a:solidFill>
                <a:latin typeface="Calibri"/>
              </a:rPr>
              <a:t>Walkthrough of the ElysiumAI dashboard</a:t>
            </a:r>
          </a:p>
        </p:txBody>
      </p:sp>
      <p:sp>
        <p:nvSpPr>
          <p:cNvPr id="8" name="TextBox 7"/>
          <p:cNvSpPr txBox="1"/>
          <p:nvPr/>
        </p:nvSpPr>
        <p:spPr>
          <a:xfrm>
            <a:off x="502920" y="6446520"/>
            <a:ext cx="7315200" cy="274320"/>
          </a:xfrm>
          <a:prstGeom prst="rect">
            <a:avLst/>
          </a:prstGeom>
          <a:noFill/>
        </p:spPr>
        <p:txBody>
          <a:bodyPr wrap="square" lIns="45720" rIns="45720" tIns="18288" bIns="18288" anchor="t">
            <a:spAutoFit/>
          </a:bodyPr>
          <a:lstStyle/>
          <a:p>
            <a:pPr algn="l"/>
            <a:r>
              <a:rPr sz="1000" b="0">
                <a:solidFill>
                  <a:srgbClr val="64748B"/>
                </a:solidFill>
                <a:latin typeface="Calibri"/>
              </a:rPr>
              <a:t>ElysiumAI  |  PSIT  |  Final-Year Project</a:t>
            </a:r>
          </a:p>
        </p:txBody>
      </p:sp>
      <p:sp>
        <p:nvSpPr>
          <p:cNvPr id="9" name="TextBox 8"/>
          <p:cNvSpPr txBox="1"/>
          <p:nvPr/>
        </p:nvSpPr>
        <p:spPr>
          <a:xfrm>
            <a:off x="10515600" y="6446520"/>
            <a:ext cx="1280160" cy="274320"/>
          </a:xfrm>
          <a:prstGeom prst="rect">
            <a:avLst/>
          </a:prstGeom>
          <a:noFill/>
        </p:spPr>
        <p:txBody>
          <a:bodyPr wrap="square" lIns="45720" rIns="45720" tIns="18288" bIns="18288" anchor="t">
            <a:spAutoFit/>
          </a:bodyPr>
          <a:lstStyle/>
          <a:p>
            <a:pPr algn="r"/>
            <a:r>
              <a:rPr sz="1000" b="0">
                <a:solidFill>
                  <a:srgbClr val="64748B"/>
                </a:solidFill>
                <a:latin typeface="Calibri"/>
              </a:rPr>
              <a:t>16 / 17</a:t>
            </a:r>
          </a:p>
        </p:txBody>
      </p:sp>
      <p:sp>
        <p:nvSpPr>
          <p:cNvPr id="10" name="Rounded Rectangle 9"/>
          <p:cNvSpPr/>
          <p:nvPr/>
        </p:nvSpPr>
        <p:spPr>
          <a:xfrm>
            <a:off x="640080" y="1691640"/>
            <a:ext cx="5394960" cy="4389120"/>
          </a:xfrm>
          <a:prstGeom prst="roundRect">
            <a:avLst>
              <a:gd name="adj" fmla="val 3000"/>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874519"/>
            <a:ext cx="5120640" cy="365760"/>
          </a:xfrm>
          <a:prstGeom prst="rect">
            <a:avLst/>
          </a:prstGeom>
          <a:solidFill>
            <a:srgbClr val="70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920240"/>
            <a:ext cx="4937760" cy="274320"/>
          </a:xfrm>
          <a:prstGeom prst="rect">
            <a:avLst/>
          </a:prstGeom>
          <a:noFill/>
        </p:spPr>
        <p:txBody>
          <a:bodyPr wrap="square" lIns="45720" rIns="45720" tIns="18288" bIns="18288" anchor="t">
            <a:spAutoFit/>
          </a:bodyPr>
          <a:lstStyle/>
          <a:p>
            <a:pPr algn="l"/>
            <a:r>
              <a:rPr sz="1200" b="1">
                <a:solidFill>
                  <a:srgbClr val="FFFFFF"/>
                </a:solidFill>
                <a:latin typeface="Calibri"/>
              </a:rPr>
              <a:t>ElysiumAI – Dashboard</a:t>
            </a:r>
          </a:p>
        </p:txBody>
      </p:sp>
      <p:sp>
        <p:nvSpPr>
          <p:cNvPr id="13" name="TextBox 12"/>
          <p:cNvSpPr txBox="1"/>
          <p:nvPr/>
        </p:nvSpPr>
        <p:spPr>
          <a:xfrm>
            <a:off x="868680" y="2468880"/>
            <a:ext cx="5029200" cy="3474720"/>
          </a:xfrm>
          <a:prstGeom prst="rect">
            <a:avLst/>
          </a:prstGeom>
          <a:noFill/>
        </p:spPr>
        <p:txBody>
          <a:bodyPr wrap="square" lIns="45720" rIns="45720" tIns="18288" bIns="18288" anchor="ctr">
            <a:spAutoFit/>
          </a:bodyPr>
          <a:lstStyle/>
          <a:p>
            <a:pPr algn="ctr"/>
            <a:r>
              <a:rPr sz="1800" b="0">
                <a:solidFill>
                  <a:srgbClr val="EEF2FF"/>
                </a:solidFill>
                <a:latin typeface="Calibri"/>
              </a:rPr>
              <a:t>[ Insert screenshot of</a:t>
            </a:r>
          </a:p>
          <a:p>
            <a:pPr algn="ctr"/>
            <a:r>
              <a:rPr sz="1800" b="0">
                <a:solidFill>
                  <a:srgbClr val="EEF2FF"/>
                </a:solidFill>
                <a:latin typeface="Calibri"/>
              </a:rPr>
              <a:t>  unified dashboard here ]</a:t>
            </a:r>
          </a:p>
        </p:txBody>
      </p:sp>
      <p:sp>
        <p:nvSpPr>
          <p:cNvPr id="14" name="Rounded Rectangle 13"/>
          <p:cNvSpPr/>
          <p:nvPr/>
        </p:nvSpPr>
        <p:spPr>
          <a:xfrm>
            <a:off x="6263640" y="1691640"/>
            <a:ext cx="5394960" cy="4389120"/>
          </a:xfrm>
          <a:prstGeom prst="roundRect">
            <a:avLst>
              <a:gd name="adj" fmla="val 3000"/>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874519"/>
            <a:ext cx="5120640" cy="36576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4937760" cy="274320"/>
          </a:xfrm>
          <a:prstGeom prst="rect">
            <a:avLst/>
          </a:prstGeom>
          <a:noFill/>
        </p:spPr>
        <p:txBody>
          <a:bodyPr wrap="square" lIns="45720" rIns="45720" tIns="18288" bIns="18288" anchor="t">
            <a:spAutoFit/>
          </a:bodyPr>
          <a:lstStyle/>
          <a:p>
            <a:pPr algn="l"/>
            <a:r>
              <a:rPr sz="1200" b="1">
                <a:solidFill>
                  <a:srgbClr val="FFFFFF"/>
                </a:solidFill>
                <a:latin typeface="Calibri"/>
              </a:rPr>
              <a:t>Smart Router – Live Logs</a:t>
            </a:r>
          </a:p>
        </p:txBody>
      </p:sp>
      <p:sp>
        <p:nvSpPr>
          <p:cNvPr id="17" name="TextBox 16"/>
          <p:cNvSpPr txBox="1"/>
          <p:nvPr/>
        </p:nvSpPr>
        <p:spPr>
          <a:xfrm>
            <a:off x="6492240" y="2468880"/>
            <a:ext cx="5029200" cy="3474720"/>
          </a:xfrm>
          <a:prstGeom prst="rect">
            <a:avLst/>
          </a:prstGeom>
          <a:noFill/>
        </p:spPr>
        <p:txBody>
          <a:bodyPr wrap="square" lIns="45720" rIns="45720" tIns="18288" bIns="18288" anchor="ctr">
            <a:spAutoFit/>
          </a:bodyPr>
          <a:lstStyle/>
          <a:p>
            <a:pPr algn="ctr"/>
            <a:r>
              <a:rPr sz="1800" b="0">
                <a:solidFill>
                  <a:srgbClr val="EEF2FF"/>
                </a:solidFill>
                <a:latin typeface="Calibri"/>
              </a:rPr>
              <a:t>[ Insert screenshot of</a:t>
            </a:r>
          </a:p>
          <a:p>
            <a:pPr algn="ctr"/>
            <a:r>
              <a:rPr sz="1800" b="0">
                <a:solidFill>
                  <a:srgbClr val="EEF2FF"/>
                </a:solidFill>
                <a:latin typeface="Calibri"/>
              </a:rPr>
              <a:t>  routing logs / model picks ]</a:t>
            </a:r>
          </a:p>
        </p:txBody>
      </p:sp>
      <p:sp>
        <p:nvSpPr>
          <p:cNvPr id="18" name="TextBox 17"/>
          <p:cNvSpPr txBox="1"/>
          <p:nvPr/>
        </p:nvSpPr>
        <p:spPr>
          <a:xfrm>
            <a:off x="640080" y="6217920"/>
            <a:ext cx="10972800" cy="274320"/>
          </a:xfrm>
          <a:prstGeom prst="rect">
            <a:avLst/>
          </a:prstGeom>
          <a:noFill/>
        </p:spPr>
        <p:txBody>
          <a:bodyPr wrap="square" lIns="45720" rIns="45720" tIns="18288" bIns="18288" anchor="t">
            <a:spAutoFit/>
          </a:bodyPr>
          <a:lstStyle/>
          <a:p>
            <a:pPr algn="l"/>
            <a:r>
              <a:rPr sz="1100" b="0">
                <a:solidFill>
                  <a:srgbClr val="64748B"/>
                </a:solidFill>
                <a:latin typeface="Calibri"/>
              </a:rPr>
              <a:t>Replace placeholders with real product screenshots before viva.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0"/>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331720"/>
            <a:ext cx="12191695" cy="109728"/>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789920" y="457200"/>
            <a:ext cx="1463040" cy="1463040"/>
          </a:xfrm>
          <a:prstGeom prst="ellipse">
            <a:avLst/>
          </a:prstGeom>
          <a:solidFill>
            <a:srgbClr val="704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65760" y="5029200"/>
            <a:ext cx="914400" cy="914400"/>
          </a:xfrm>
          <a:prstGeom prst="ellipse">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914400"/>
            <a:ext cx="10972800" cy="1188720"/>
          </a:xfrm>
          <a:prstGeom prst="rect">
            <a:avLst/>
          </a:prstGeom>
          <a:noFill/>
        </p:spPr>
        <p:txBody>
          <a:bodyPr wrap="square" lIns="45720" rIns="45720" tIns="18288" bIns="18288" anchor="t">
            <a:spAutoFit/>
          </a:bodyPr>
          <a:lstStyle/>
          <a:p>
            <a:pPr algn="l"/>
            <a:r>
              <a:rPr sz="7200" b="1">
                <a:solidFill>
                  <a:srgbClr val="1E1B4B"/>
                </a:solidFill>
                <a:latin typeface="Calibri"/>
              </a:rPr>
              <a:t>Thank You</a:t>
            </a:r>
          </a:p>
        </p:txBody>
      </p:sp>
      <p:sp>
        <p:nvSpPr>
          <p:cNvPr id="8" name="TextBox 7"/>
          <p:cNvSpPr txBox="1"/>
          <p:nvPr/>
        </p:nvSpPr>
        <p:spPr>
          <a:xfrm>
            <a:off x="640080" y="2103120"/>
            <a:ext cx="10972800" cy="548640"/>
          </a:xfrm>
          <a:prstGeom prst="rect">
            <a:avLst/>
          </a:prstGeom>
          <a:noFill/>
        </p:spPr>
        <p:txBody>
          <a:bodyPr wrap="square" lIns="45720" rIns="45720" tIns="18288" bIns="18288" anchor="t">
            <a:spAutoFit/>
          </a:bodyPr>
          <a:lstStyle/>
          <a:p>
            <a:pPr algn="l"/>
            <a:r>
              <a:rPr sz="2200" b="1">
                <a:solidFill>
                  <a:srgbClr val="3B5BDB"/>
                </a:solidFill>
                <a:latin typeface="Calibri"/>
              </a:rPr>
              <a:t>Questions, feedback &amp; discussion welcome.</a:t>
            </a:r>
          </a:p>
        </p:txBody>
      </p:sp>
      <p:sp>
        <p:nvSpPr>
          <p:cNvPr id="9" name="Rounded Rectangle 8"/>
          <p:cNvSpPr/>
          <p:nvPr/>
        </p:nvSpPr>
        <p:spPr>
          <a:xfrm>
            <a:off x="640080" y="3108960"/>
            <a:ext cx="10972800" cy="2743200"/>
          </a:xfrm>
          <a:prstGeom prst="roundRect">
            <a:avLst>
              <a:gd name="adj" fmla="val 3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291840"/>
            <a:ext cx="10058400" cy="457200"/>
          </a:xfrm>
          <a:prstGeom prst="rect">
            <a:avLst/>
          </a:prstGeom>
          <a:noFill/>
        </p:spPr>
        <p:txBody>
          <a:bodyPr wrap="square" lIns="45720" rIns="45720" tIns="18288" bIns="18288" anchor="t">
            <a:spAutoFit/>
          </a:bodyPr>
          <a:lstStyle/>
          <a:p>
            <a:pPr algn="l"/>
            <a:r>
              <a:rPr sz="1200" b="1">
                <a:solidFill>
                  <a:srgbClr val="7048E8"/>
                </a:solidFill>
                <a:latin typeface="Calibri"/>
              </a:rPr>
              <a:t>PROJECT</a:t>
            </a:r>
          </a:p>
        </p:txBody>
      </p:sp>
      <p:sp>
        <p:nvSpPr>
          <p:cNvPr id="11" name="TextBox 10"/>
          <p:cNvSpPr txBox="1"/>
          <p:nvPr/>
        </p:nvSpPr>
        <p:spPr>
          <a:xfrm>
            <a:off x="914400" y="3657600"/>
            <a:ext cx="10058400" cy="640080"/>
          </a:xfrm>
          <a:prstGeom prst="rect">
            <a:avLst/>
          </a:prstGeom>
          <a:noFill/>
        </p:spPr>
        <p:txBody>
          <a:bodyPr wrap="square" lIns="45720" rIns="45720" tIns="18288" bIns="18288" anchor="t">
            <a:spAutoFit/>
          </a:bodyPr>
          <a:lstStyle/>
          <a:p>
            <a:pPr algn="l"/>
            <a:r>
              <a:rPr sz="2200" b="1">
                <a:solidFill>
                  <a:srgbClr val="1E1B4B"/>
                </a:solidFill>
                <a:latin typeface="Calibri"/>
              </a:rPr>
              <a:t>ElysiumAI – A Scalable Multi-Model Orchestration Gateway</a:t>
            </a:r>
          </a:p>
        </p:txBody>
      </p:sp>
      <p:sp>
        <p:nvSpPr>
          <p:cNvPr id="12" name="TextBox 11"/>
          <p:cNvSpPr txBox="1"/>
          <p:nvPr/>
        </p:nvSpPr>
        <p:spPr>
          <a:xfrm>
            <a:off x="914400" y="4480560"/>
            <a:ext cx="10058400" cy="457200"/>
          </a:xfrm>
          <a:prstGeom prst="rect">
            <a:avLst/>
          </a:prstGeom>
          <a:noFill/>
        </p:spPr>
        <p:txBody>
          <a:bodyPr wrap="square" lIns="45720" rIns="45720" tIns="18288" bIns="18288" anchor="t">
            <a:spAutoFit/>
          </a:bodyPr>
          <a:lstStyle/>
          <a:p>
            <a:pPr algn="l"/>
            <a:r>
              <a:rPr sz="1400" b="0">
                <a:solidFill>
                  <a:srgbClr val="64748B"/>
                </a:solidFill>
                <a:latin typeface="Calibri"/>
              </a:rPr>
              <a:t>Pranveer Singh Institute of Technology  •  Department of CSE</a:t>
            </a:r>
          </a:p>
        </p:txBody>
      </p:sp>
      <p:sp>
        <p:nvSpPr>
          <p:cNvPr id="13" name="TextBox 12"/>
          <p:cNvSpPr txBox="1"/>
          <p:nvPr/>
        </p:nvSpPr>
        <p:spPr>
          <a:xfrm>
            <a:off x="914400" y="4937760"/>
            <a:ext cx="10058400" cy="457200"/>
          </a:xfrm>
          <a:prstGeom prst="rect">
            <a:avLst/>
          </a:prstGeom>
          <a:noFill/>
        </p:spPr>
        <p:txBody>
          <a:bodyPr wrap="square" lIns="45720" rIns="45720" tIns="18288" bIns="18288" anchor="t">
            <a:spAutoFit/>
          </a:bodyPr>
          <a:lstStyle/>
          <a:p>
            <a:pPr algn="l"/>
            <a:r>
              <a:rPr sz="1400" b="0">
                <a:solidFill>
                  <a:srgbClr val="1E1B4B"/>
                </a:solidFill>
                <a:latin typeface="Calibri"/>
              </a:rPr>
              <a:t>Team: Kushagra Tiwari · Kavisha Gupta · Rajveer Singh · Nidhaan Khare</a:t>
            </a:r>
          </a:p>
        </p:txBody>
      </p:sp>
      <p:sp>
        <p:nvSpPr>
          <p:cNvPr id="14" name="TextBox 13"/>
          <p:cNvSpPr txBox="1"/>
          <p:nvPr/>
        </p:nvSpPr>
        <p:spPr>
          <a:xfrm>
            <a:off x="914400" y="5349240"/>
            <a:ext cx="10058400" cy="457200"/>
          </a:xfrm>
          <a:prstGeom prst="rect">
            <a:avLst/>
          </a:prstGeom>
          <a:noFill/>
        </p:spPr>
        <p:txBody>
          <a:bodyPr wrap="square" lIns="45720" rIns="45720" tIns="18288" bIns="18288" anchor="t">
            <a:spAutoFit/>
          </a:bodyPr>
          <a:lstStyle/>
          <a:p>
            <a:pPr algn="l"/>
            <a:r>
              <a:rPr sz="1400" b="0">
                <a:solidFill>
                  <a:srgbClr val="1E1B4B"/>
                </a:solidFill>
                <a:latin typeface="Calibri"/>
              </a:rPr>
              <a:t>Guide: [Project Guide Name]</a:t>
            </a:r>
          </a:p>
        </p:txBody>
      </p:sp>
      <p:sp>
        <p:nvSpPr>
          <p:cNvPr id="15" name="TextBox 14"/>
          <p:cNvSpPr txBox="1"/>
          <p:nvPr/>
        </p:nvSpPr>
        <p:spPr>
          <a:xfrm>
            <a:off x="640080" y="6263640"/>
            <a:ext cx="10972800" cy="365760"/>
          </a:xfrm>
          <a:prstGeom prst="rect">
            <a:avLst/>
          </a:prstGeom>
          <a:noFill/>
        </p:spPr>
        <p:txBody>
          <a:bodyPr wrap="square" lIns="45720" rIns="45720" tIns="18288" bIns="18288" anchor="t">
            <a:spAutoFit/>
          </a:bodyPr>
          <a:lstStyle/>
          <a:p>
            <a:pPr algn="ctr"/>
            <a:r>
              <a:rPr sz="1400" b="1">
                <a:solidFill>
                  <a:srgbClr val="7048E8"/>
                </a:solidFill>
                <a:latin typeface="Calibri"/>
              </a:rPr>
              <a:t>Open for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